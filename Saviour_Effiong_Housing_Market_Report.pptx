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64" r:id="rId5"/>
    <p:sldId id="265" r:id="rId6"/>
    <p:sldId id="276" r:id="rId7"/>
    <p:sldId id="272" r:id="rId8"/>
    <p:sldId id="270" r:id="rId9"/>
    <p:sldId id="278" r:id="rId10"/>
    <p:sldId id="257" r:id="rId11"/>
    <p:sldId id="258" r:id="rId12"/>
    <p:sldId id="259" r:id="rId13"/>
    <p:sldId id="260" r:id="rId14"/>
    <p:sldId id="261" r:id="rId15"/>
    <p:sldId id="267" r:id="rId16"/>
    <p:sldId id="273" r:id="rId17"/>
    <p:sldId id="274" r:id="rId18"/>
    <p:sldId id="262" r:id="rId19"/>
    <p:sldId id="268" r:id="rId20"/>
    <p:sldId id="275" r:id="rId21"/>
    <p:sldId id="269" r:id="rId22"/>
    <p:sldId id="263" r:id="rId23"/>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6" userDrawn="1">
          <p15:clr>
            <a:srgbClr val="A4A3A4"/>
          </p15:clr>
        </p15:guide>
        <p15:guide id="2" pos="28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C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06"/>
        <p:guide pos="287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6514" y="1143000"/>
            <a:ext cx="5484971"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b="1">
                <a:highlight>
                  <a:srgbClr val="FF0000"/>
                </a:highlight>
              </a:rPr>
              <a:t>Notes:</a:t>
            </a:r>
            <a:r>
              <a:rPr lang="en-US" altLang="en-GB"/>
              <a:t>  These KPIs give </a:t>
            </a:r>
            <a:r>
              <a:rPr lang="en-GB" altLang="en-US"/>
              <a:t>a pulse of the market explanations included: </a:t>
            </a:r>
            <a:endParaRPr lang="en-US" altLang="en-GB"/>
          </a:p>
          <a:p>
            <a:pPr marL="171450" indent="-171450">
              <a:buClr>
                <a:srgbClr val="FF0000"/>
              </a:buClr>
              <a:buFont typeface="Wingdings" panose="05000000000000000000" charset="0"/>
              <a:buChar char="Ø"/>
            </a:pPr>
            <a:r>
              <a:rPr lang="en-GB" altLang="en-US" b="1"/>
              <a:t>R</a:t>
            </a:r>
            <a:r>
              <a:rPr lang="en-US" altLang="en-GB" b="1"/>
              <a:t>esale price shows overall affordability.</a:t>
            </a:r>
            <a:endParaRPr lang="en-US" altLang="en-GB" b="1"/>
          </a:p>
          <a:p>
            <a:pPr marL="171450" indent="-171450">
              <a:buClr>
                <a:srgbClr val="FF0000"/>
              </a:buClr>
              <a:buFont typeface="Wingdings" panose="05000000000000000000" charset="0"/>
              <a:buChar char="Ø"/>
            </a:pPr>
            <a:r>
              <a:rPr lang="en-US" altLang="en-GB" b="1"/>
              <a:t>Price per sqm normalizes value across different flat sizes.</a:t>
            </a:r>
            <a:endParaRPr lang="en-US" altLang="en-GB" b="1"/>
          </a:p>
          <a:p>
            <a:pPr marL="171450" indent="-171450">
              <a:buClr>
                <a:srgbClr val="FF0000"/>
              </a:buClr>
              <a:buFont typeface="Wingdings" panose="05000000000000000000" charset="0"/>
              <a:buChar char="Ø"/>
            </a:pPr>
            <a:r>
              <a:rPr lang="en-US" altLang="en-GB" b="1"/>
              <a:t>Average lease reflects the age of housing stock.</a:t>
            </a:r>
            <a:endParaRPr lang="en-US" altLang="en-GB" b="1"/>
          </a:p>
          <a:p>
            <a:pPr marL="171450" indent="-171450">
              <a:buClr>
                <a:srgbClr val="FF0000"/>
              </a:buClr>
              <a:buFont typeface="Wingdings" panose="05000000000000000000" charset="0"/>
              <a:buChar char="Ø"/>
            </a:pPr>
            <a:r>
              <a:rPr lang="en-US" altLang="en-GB" b="1"/>
              <a:t>Total transactions measure market activity.</a:t>
            </a:r>
            <a:endParaRPr lang="en-US" altLang="en-GB" b="1"/>
          </a:p>
          <a:p>
            <a:pPr marL="171450" indent="-171450">
              <a:buClr>
                <a:srgbClr val="FF0000"/>
              </a:buClr>
              <a:buFont typeface="Wingdings" panose="05000000000000000000" charset="0"/>
              <a:buChar char="Ø"/>
            </a:pPr>
            <a:r>
              <a:rPr lang="en-US" altLang="en-GB" b="1"/>
              <a:t>Average floor area shows typical unit size.</a:t>
            </a:r>
            <a:r>
              <a:rPr lang="en-GB" altLang="en-US" b="1"/>
              <a:t> </a:t>
            </a:r>
            <a:endParaRPr lang="en-GB" altLang="en-US" b="1"/>
          </a:p>
          <a:p>
            <a:pPr marL="171450" indent="-171450">
              <a:buClr>
                <a:srgbClr val="FF0000"/>
              </a:buClr>
              <a:buFont typeface="Wingdings" panose="05000000000000000000" charset="0"/>
              <a:buChar char="Ø"/>
            </a:pPr>
            <a:r>
              <a:rPr lang="en-US" altLang="en-GB" b="1"/>
              <a:t>Together, they highlight affordability, demand, and housing stock characteristics.</a:t>
            </a:r>
            <a:endParaRPr lang="en-US" altLang="en-GB" b="1"/>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b="1">
                <a:highlight>
                  <a:srgbClr val="FF0000"/>
                </a:highlight>
              </a:rPr>
              <a:t>Notes:</a:t>
            </a:r>
            <a:r>
              <a:rPr lang="en-US" altLang="en-GB"/>
              <a:t> </a:t>
            </a:r>
            <a:r>
              <a:rPr lang="en-GB" altLang="en-US"/>
              <a:t>The analysis generally reported thus:</a:t>
            </a:r>
            <a:endParaRPr lang="en-US" altLang="en-GB"/>
          </a:p>
          <a:p>
            <a:pPr marL="171450" indent="-171450">
              <a:buFont typeface="Wingdings" panose="05000000000000000000" charset="0"/>
              <a:buChar char="Ø"/>
            </a:pPr>
            <a:r>
              <a:rPr lang="en-GB" altLang="en-US"/>
              <a:t>R</a:t>
            </a:r>
            <a:r>
              <a:rPr lang="en-US" altLang="en-GB"/>
              <a:t>esale prices peaked in 2013, then </a:t>
            </a:r>
            <a:r>
              <a:rPr lang="en-GB" altLang="en-US"/>
              <a:t>declined</a:t>
            </a:r>
            <a:r>
              <a:rPr lang="en-US" altLang="en-GB"/>
              <a:t>, showing market cycles.</a:t>
            </a:r>
            <a:endParaRPr lang="en-US" altLang="en-GB"/>
          </a:p>
          <a:p>
            <a:pPr marL="171450" indent="-171450">
              <a:buFont typeface="Wingdings" panose="05000000000000000000" charset="0"/>
              <a:buChar char="Ø"/>
            </a:pPr>
            <a:r>
              <a:rPr lang="en-US" altLang="en-GB"/>
              <a:t>Remaining lease trends highlight buyer preference for newer versus older flats.</a:t>
            </a:r>
            <a:endParaRPr lang="en-US" altLang="en-GB"/>
          </a:p>
          <a:p>
            <a:pPr marL="171450" indent="-171450">
              <a:buFont typeface="Wingdings" panose="05000000000000000000" charset="0"/>
              <a:buChar char="Ø"/>
            </a:pPr>
            <a:r>
              <a:rPr lang="en-US" altLang="en-GB"/>
              <a:t>Floor area trends show a shift toward compact living.</a:t>
            </a:r>
            <a:endParaRPr lang="en-US" altLang="en-GB"/>
          </a:p>
          <a:p>
            <a:r>
              <a:rPr lang="en-US" altLang="en-GB"/>
              <a:t>These visuals together explain how prices, leases, and unit sizes evolve over time.”</a:t>
            </a:r>
            <a:endParaRPr lang="en-US" alt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a:highlight>
                  <a:srgbClr val="FF0000"/>
                </a:highlight>
              </a:rPr>
              <a:t>Notes: </a:t>
            </a:r>
            <a:r>
              <a:rPr lang="en-GB" altLang="en-US"/>
              <a:t>T</a:t>
            </a:r>
            <a:r>
              <a:rPr lang="en-US" altLang="en-GB"/>
              <a:t>he structural and lease factors driving pricing differences:</a:t>
            </a:r>
            <a:r>
              <a:rPr lang="en-GB" altLang="en-US"/>
              <a:t> are observed as follows</a:t>
            </a:r>
            <a:endParaRPr lang="en-US" altLang="en-GB"/>
          </a:p>
          <a:p>
            <a:pPr marL="171450" indent="-171450">
              <a:buFont typeface="Wingdings" panose="05000000000000000000" charset="0"/>
              <a:buChar char="Ø"/>
            </a:pPr>
            <a:r>
              <a:rPr lang="en-US" altLang="en-GB"/>
              <a:t>Smaller flats often have higher price per sqm due to efficiency.</a:t>
            </a:r>
            <a:endParaRPr lang="en-US" altLang="en-GB"/>
          </a:p>
          <a:p>
            <a:pPr marL="171450" indent="-171450">
              <a:buFont typeface="Wingdings" panose="05000000000000000000" charset="0"/>
              <a:buChar char="Ø"/>
            </a:pPr>
            <a:r>
              <a:rPr lang="en-US" altLang="en-GB"/>
              <a:t>Mid-storey flats are more desirable, balancing accessibility and views.</a:t>
            </a:r>
            <a:endParaRPr lang="en-US" altLang="en-GB"/>
          </a:p>
          <a:p>
            <a:pPr marL="171450" indent="-171450">
              <a:buFont typeface="Wingdings" panose="05000000000000000000" charset="0"/>
              <a:buChar char="Ø"/>
            </a:pPr>
            <a:r>
              <a:rPr lang="en-US" altLang="en-GB"/>
              <a:t>Mid-age leases offer optimal value compared to new or very old flats.</a:t>
            </a:r>
            <a:endParaRPr lang="en-US" altLang="en-GB"/>
          </a:p>
          <a:p>
            <a:pPr marL="171450" indent="-171450">
              <a:buFont typeface="Wingdings" panose="05000000000000000000" charset="0"/>
              <a:buChar char="Ø"/>
            </a:pPr>
            <a:r>
              <a:rPr lang="en-US" altLang="en-GB"/>
              <a:t>Lease age by flat model shows aging stock, especially in 4-ROOM and IMPROVED models.</a:t>
            </a:r>
            <a:endParaRPr lang="en-US" altLang="en-GB"/>
          </a:p>
          <a:p>
            <a:r>
              <a:rPr lang="en-US" altLang="en-GB"/>
              <a:t>These drivers explain why some flats outperform others.”</a:t>
            </a:r>
            <a:endParaRPr lang="en-US" alt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b="1">
                <a:highlight>
                  <a:srgbClr val="FF0000"/>
                </a:highlight>
              </a:rPr>
              <a:t>Notes:  </a:t>
            </a:r>
            <a:endParaRPr lang="en-US" altLang="en-GB" b="1">
              <a:highlight>
                <a:srgbClr val="FF0000"/>
              </a:highlight>
            </a:endParaRPr>
          </a:p>
          <a:p>
            <a:pPr marL="171450" indent="-171450">
              <a:buFont typeface="Wingdings" panose="05000000000000000000" charset="0"/>
              <a:buChar char="Ø"/>
            </a:pPr>
            <a:r>
              <a:rPr lang="en-US" altLang="en-GB"/>
              <a:t>Location remains the strongest determinant of value.</a:t>
            </a:r>
            <a:endParaRPr lang="en-US" altLang="en-GB"/>
          </a:p>
          <a:p>
            <a:pPr marL="171450" indent="-171450">
              <a:buFont typeface="Wingdings" panose="05000000000000000000" charset="0"/>
              <a:buChar char="Ø"/>
            </a:pPr>
            <a:r>
              <a:rPr lang="en-US" altLang="en-GB"/>
              <a:t>The map shows geographic pricing, lease age, and transaction activity.</a:t>
            </a:r>
            <a:endParaRPr lang="en-US" altLang="en-GB"/>
          </a:p>
          <a:p>
            <a:pPr marL="171450" indent="-171450">
              <a:buFont typeface="Wingdings" panose="05000000000000000000" charset="0"/>
              <a:buChar char="Ø"/>
            </a:pPr>
            <a:r>
              <a:rPr lang="en-US" altLang="en-GB"/>
              <a:t>The bar chart ranks towns by resale price, with Bukit Timah, Bishan, and Central Area leading.</a:t>
            </a:r>
            <a:endParaRPr lang="en-US" altLang="en-GB"/>
          </a:p>
          <a:p>
            <a:r>
              <a:rPr lang="en-US" altLang="en-GB"/>
              <a:t>This confirms that central towns command premiums, while fringe towns remain more affordable.”</a:t>
            </a:r>
            <a:endParaRPr lang="en-US" alt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b="1">
                <a:highlight>
                  <a:srgbClr val="FF0000"/>
                </a:highlight>
              </a:rPr>
              <a:t>Notes:</a:t>
            </a:r>
            <a:r>
              <a:rPr lang="en-US" altLang="en-GB"/>
              <a:t>  </a:t>
            </a:r>
            <a:endParaRPr lang="en-US" altLang="en-GB"/>
          </a:p>
          <a:p>
            <a:pPr marL="171450" indent="-171450">
              <a:buFont typeface="Wingdings" panose="05000000000000000000" charset="0"/>
              <a:buChar char="Ø"/>
            </a:pPr>
            <a:r>
              <a:rPr lang="en-US" altLang="en-GB"/>
              <a:t>Inventory and mix visuals reveal how housing stock composition influences supply and demand.</a:t>
            </a:r>
            <a:endParaRPr lang="en-US" altLang="en-GB"/>
          </a:p>
          <a:p>
            <a:pPr marL="171450" indent="-171450">
              <a:buFont typeface="Wingdings" panose="05000000000000000000" charset="0"/>
              <a:buChar char="Ø"/>
            </a:pPr>
            <a:r>
              <a:rPr lang="en-US" altLang="en-GB"/>
              <a:t>Smaller flats in prime towns yield higher price per sqm.</a:t>
            </a:r>
            <a:endParaRPr lang="en-US" altLang="en-GB"/>
          </a:p>
          <a:p>
            <a:pPr marL="171450" indent="-171450">
              <a:buFont typeface="Wingdings" panose="05000000000000000000" charset="0"/>
              <a:buChar char="Ø"/>
            </a:pPr>
            <a:r>
              <a:rPr lang="en-US" altLang="en-GB"/>
              <a:t>Transaction volume peaked in 2017–2018, then slowed in 2019.</a:t>
            </a:r>
            <a:endParaRPr lang="en-US" altLang="en-GB"/>
          </a:p>
          <a:p>
            <a:pPr marL="171450" indent="-171450">
              <a:buFont typeface="Wingdings" panose="05000000000000000000" charset="0"/>
              <a:buChar char="Ø"/>
            </a:pPr>
            <a:r>
              <a:rPr lang="en-US" altLang="en-GB"/>
              <a:t>Mid-age flats are most efficient per sqm.</a:t>
            </a:r>
            <a:endParaRPr lang="en-US" altLang="en-GB"/>
          </a:p>
          <a:p>
            <a:pPr marL="171450" indent="-171450">
              <a:buFont typeface="Wingdings" panose="05000000000000000000" charset="0"/>
              <a:buChar char="Ø"/>
            </a:pPr>
            <a:r>
              <a:rPr lang="en-US" altLang="en-GB"/>
              <a:t>Longer leases consistently command higher resale prices.</a:t>
            </a:r>
            <a:endParaRPr lang="en-US" altLang="en-GB"/>
          </a:p>
          <a:p>
            <a:r>
              <a:rPr lang="en-US" altLang="en-GB"/>
              <a:t>This shows how stock mix and lease age shape market dynamics.”</a:t>
            </a:r>
            <a:endParaRPr lang="en-US" alt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88825" cy="6597650"/>
          </a:xfrm>
          <a:prstGeom prst="rect">
            <a:avLst/>
          </a:prstGeom>
          <a:noFill/>
          <a:ln w="9525">
            <a:noFill/>
          </a:ln>
        </p:spPr>
      </p:pic>
      <p:sp>
        <p:nvSpPr>
          <p:cNvPr id="2051" name="Rectangle 3"/>
          <p:cNvSpPr>
            <a:spLocks noGrp="1" noChangeArrowheads="1"/>
          </p:cNvSpPr>
          <p:nvPr>
            <p:ph type="ctrTitle"/>
          </p:nvPr>
        </p:nvSpPr>
        <p:spPr>
          <a:xfrm>
            <a:off x="624255" y="620713"/>
            <a:ext cx="10940317"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370" y="1843088"/>
            <a:ext cx="10946666" cy="981075"/>
          </a:xfrm>
        </p:spPr>
        <p:txBody>
          <a:bodyPr/>
          <a:lstStyle>
            <a:lvl1pPr marL="0" indent="0">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441" y="6245225"/>
            <a:ext cx="2844059"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5BCAD085-E8A6-8845-BD4E-CB4CCA059FC4}" type="datetimeFigureOut">
              <a:rPr lang="en-US" smtClean="0"/>
            </a:fld>
            <a:endParaRPr lang="en-US"/>
          </a:p>
        </p:txBody>
      </p:sp>
      <p:sp>
        <p:nvSpPr>
          <p:cNvPr id="10" name="Rectangle 6"/>
          <p:cNvSpPr>
            <a:spLocks noGrp="1" noChangeArrowheads="1"/>
          </p:cNvSpPr>
          <p:nvPr>
            <p:ph type="ftr" sz="quarter" idx="3"/>
          </p:nvPr>
        </p:nvSpPr>
        <p:spPr bwMode="auto">
          <a:xfrm>
            <a:off x="4164515" y="6245225"/>
            <a:ext cx="3859795"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5325" y="6245225"/>
            <a:ext cx="2844059"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C1FF6DA9-008F-8B48-92A6-B652298478BF}"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634" y="1709738"/>
            <a:ext cx="10512862"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634" y="4589463"/>
            <a:ext cx="10512862"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441" y="1174750"/>
            <a:ext cx="5383398"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5986" y="1174750"/>
            <a:ext cx="5383398"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99" y="365125"/>
            <a:ext cx="10512862"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099" y="1681163"/>
            <a:ext cx="515697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099" y="2505075"/>
            <a:ext cx="5156973"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0593" y="1681163"/>
            <a:ext cx="518236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0593" y="2505075"/>
            <a:ext cx="518236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99" y="457200"/>
            <a:ext cx="3931743"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2367" y="987425"/>
            <a:ext cx="617059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099" y="2057400"/>
            <a:ext cx="39317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99" y="457200"/>
            <a:ext cx="3931743"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2367" y="987425"/>
            <a:ext cx="6170593"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099" y="2057400"/>
            <a:ext cx="39317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190500"/>
            <a:ext cx="2742486"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441" y="190500"/>
            <a:ext cx="802431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p:cNvPicPr>
            <a:picLocks noChangeAspect="1"/>
          </p:cNvPicPr>
          <p:nvPr/>
        </p:nvPicPr>
        <p:blipFill>
          <a:blip r:embed="rId12"/>
          <a:stretch>
            <a:fillRect/>
          </a:stretch>
        </p:blipFill>
        <p:spPr>
          <a:xfrm>
            <a:off x="0" y="0"/>
            <a:ext cx="12188825" cy="6858000"/>
          </a:xfrm>
          <a:prstGeom prst="rect">
            <a:avLst/>
          </a:prstGeom>
          <a:noFill/>
          <a:ln w="9525">
            <a:noFill/>
          </a:ln>
        </p:spPr>
      </p:pic>
      <p:sp>
        <p:nvSpPr>
          <p:cNvPr id="1027" name="Rectangle 3"/>
          <p:cNvSpPr>
            <a:spLocks noGrp="1"/>
          </p:cNvSpPr>
          <p:nvPr>
            <p:ph type="title"/>
          </p:nvPr>
        </p:nvSpPr>
        <p:spPr>
          <a:xfrm>
            <a:off x="609441" y="190500"/>
            <a:ext cx="10969943"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441" y="1174750"/>
            <a:ext cx="10969943"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441" y="6245225"/>
            <a:ext cx="28440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5BCAD085-E8A6-8845-BD4E-CB4CCA059FC4}" type="datetimeFigureOut">
              <a:rPr lang="en-US" smtClean="0"/>
            </a:fld>
            <a:endParaRPr lang="en-US"/>
          </a:p>
        </p:txBody>
      </p:sp>
      <p:sp>
        <p:nvSpPr>
          <p:cNvPr id="1030" name="Rectangle 6"/>
          <p:cNvSpPr>
            <a:spLocks noGrp="1" noChangeArrowheads="1"/>
          </p:cNvSpPr>
          <p:nvPr>
            <p:ph type="ftr" sz="quarter" idx="3"/>
          </p:nvPr>
        </p:nvSpPr>
        <p:spPr bwMode="auto">
          <a:xfrm>
            <a:off x="4164515" y="6245225"/>
            <a:ext cx="385979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5325" y="6245225"/>
            <a:ext cx="28440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Title 1"/>
          <p:cNvSpPr>
            <a:spLocks noGrp="1"/>
          </p:cNvSpPr>
          <p:nvPr>
            <p:ph type="ctrTitle"/>
          </p:nvPr>
        </p:nvSpPr>
        <p:spPr>
          <a:ln w="6350" cap="flat" cmpd="sng" algn="ctr">
            <a:noFill/>
            <a:prstDash val="dash"/>
            <a:miter lim="800000"/>
          </a:ln>
          <a:effectLst>
            <a:glow rad="228600">
              <a:schemeClr val="accent3">
                <a:satMod val="175000"/>
                <a:alpha val="40000"/>
              </a:schemeClr>
            </a:glow>
          </a:effectLst>
        </p:spPr>
        <p:style>
          <a:lnRef idx="0">
            <a:prstClr val="black"/>
          </a:lnRef>
          <a:fillRef idx="0">
            <a:srgbClr val="FFFFFF"/>
          </a:fillRef>
          <a:effectRef idx="0">
            <a:srgbClr val="FFFFFF"/>
          </a:effectRef>
          <a:fontRef idx="minor">
            <a:schemeClr val="tx1"/>
          </a:fontRef>
        </p:style>
        <p:txBody>
          <a:bodyPr/>
          <a:lstStyle/>
          <a:p>
            <a:pPr algn="ctr"/>
            <a:r>
              <a:rPr lang="en-GB"/>
              <a:t>Predictive and Descriptive Analytics of Housing Resale Data</a:t>
            </a:r>
            <a:r>
              <a:t> </a:t>
            </a:r>
            <a:r>
              <a:rPr lang="en-GB"/>
              <a:t>Reports</a:t>
            </a:r>
            <a:endParaRPr lang="en-GB"/>
          </a:p>
        </p:txBody>
      </p:sp>
      <p:sp>
        <p:nvSpPr>
          <p:cNvPr id="3" name="Subtitle 2"/>
          <p:cNvSpPr>
            <a:spLocks noGrp="1"/>
          </p:cNvSpPr>
          <p:nvPr>
            <p:ph type="subTitle" idx="1"/>
          </p:nvPr>
        </p:nvSpPr>
        <p:spPr>
          <a:xfrm>
            <a:off x="8101965" y="1837055"/>
            <a:ext cx="2240915" cy="543560"/>
          </a:xfrm>
          <a:solidFill>
            <a:schemeClr val="accent5">
              <a:lumMod val="20000"/>
              <a:lumOff val="80000"/>
            </a:schemeClr>
          </a:solidFill>
          <a:scene3d>
            <a:camera prst="orthographicFront"/>
            <a:lightRig rig="threePt" dir="t"/>
          </a:scene3d>
          <a:sp3d prstMaterial="powder"/>
        </p:spPr>
        <p:txBody>
          <a:bodyPr/>
          <a:lstStyle/>
          <a:p>
            <a:r>
              <a:rPr lang="en-GB" sz="2800">
                <a:solidFill>
                  <a:srgbClr val="FF0000"/>
                </a:solidFill>
                <a:latin typeface="Blackadder ITC" panose="04020505051007020D02" charset="0"/>
                <a:cs typeface="Blackadder ITC" panose="04020505051007020D02" charset="0"/>
              </a:rPr>
              <a:t>By</a:t>
            </a:r>
            <a:endParaRPr lang="en-GB" sz="2800">
              <a:solidFill>
                <a:srgbClr val="FF0000"/>
              </a:solidFill>
              <a:latin typeface="Blackadder ITC" panose="04020505051007020D02" charset="0"/>
              <a:cs typeface="Blackadder ITC" panose="04020505051007020D02" charset="0"/>
            </a:endParaRPr>
          </a:p>
        </p:txBody>
      </p:sp>
      <p:sp>
        <p:nvSpPr>
          <p:cNvPr id="4" name="Title 1"/>
          <p:cNvSpPr>
            <a:spLocks noGrp="1"/>
          </p:cNvSpPr>
          <p:nvPr/>
        </p:nvSpPr>
        <p:spPr>
          <a:xfrm>
            <a:off x="2867660" y="4101465"/>
            <a:ext cx="5911850" cy="912495"/>
          </a:xfrm>
          <a:prstGeom prst="rect">
            <a:avLst/>
          </a:prstGeom>
          <a:no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a:r>
              <a:rPr lang="en-GB">
                <a:solidFill>
                  <a:schemeClr val="bg1"/>
                </a:solidFill>
              </a:rPr>
              <a:t>Internship Project 2</a:t>
            </a:r>
            <a:endParaRPr lang="en-GB">
              <a:solidFill>
                <a:schemeClr val="bg1"/>
              </a:solidFill>
            </a:endParaRPr>
          </a:p>
        </p:txBody>
      </p:sp>
      <p:sp>
        <p:nvSpPr>
          <p:cNvPr id="5" name="Subtitle 2"/>
          <p:cNvSpPr>
            <a:spLocks noGrp="1"/>
          </p:cNvSpPr>
          <p:nvPr/>
        </p:nvSpPr>
        <p:spPr>
          <a:xfrm>
            <a:off x="2223135" y="2796540"/>
            <a:ext cx="7742555" cy="1666875"/>
          </a:xfrm>
          <a:prstGeom prst="horizontalScroll">
            <a:avLst/>
          </a:prstGeom>
          <a:ln>
            <a:prstDash val="dashDot"/>
          </a:ln>
          <a:effectLst>
            <a:glow rad="101600">
              <a:schemeClr val="accent1">
                <a:satMod val="175000"/>
                <a:alpha val="40000"/>
              </a:schemeClr>
            </a:glow>
          </a:effectLst>
        </p:spPr>
        <p:style>
          <a:lnRef idx="2">
            <a:prstClr val="black"/>
          </a:lnRef>
          <a:fillRef idx="2">
            <a:prstClr val="black"/>
          </a:fillRef>
          <a:effectRef idx="0">
            <a:srgbClr val="FFFFFF"/>
          </a:effectRef>
          <a:fontRef idx="minor">
            <a:schemeClr val="lt1"/>
          </a:fontRef>
        </p:style>
        <p:txBody>
          <a:bodyPr/>
          <a:lstStyle>
            <a:lvl1pPr marL="0" indent="0" algn="l" rtl="0" fontAlgn="base">
              <a:spcBef>
                <a:spcPct val="20000"/>
              </a:spcBef>
              <a:spcAft>
                <a:spcPct val="0"/>
              </a:spcAft>
              <a:buFontTx/>
              <a:buNone/>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a:solidFill>
                  <a:srgbClr val="92D050"/>
                </a:solidFill>
                <a:effectLst>
                  <a:outerShdw blurRad="50800" dist="38100" dir="5400000" algn="t" rotWithShape="0">
                    <a:prstClr val="black">
                      <a:alpha val="40000"/>
                    </a:prstClr>
                  </a:outerShdw>
                </a:effectLst>
              </a:rPr>
              <a:t>Saviour Christopher Effiong</a:t>
            </a:r>
            <a:endParaRPr lang="en-GB">
              <a:solidFill>
                <a:srgbClr val="92D050"/>
              </a:solidFill>
              <a:effectLst>
                <a:outerShdw blurRad="50800" dist="38100" dir="5400000" algn="t" rotWithShape="0">
                  <a:prstClr val="black">
                    <a:alpha val="40000"/>
                  </a:prstClr>
                </a:outerShdw>
              </a:effectLst>
            </a:endParaRPr>
          </a:p>
          <a:p>
            <a:r>
              <a:rPr lang="en-GB">
                <a:solidFill>
                  <a:schemeClr val="bg1"/>
                </a:solidFill>
                <a:effectLst>
                  <a:outerShdw blurRad="50800" dist="38100" dir="5400000" algn="t" rotWithShape="0">
                    <a:prstClr val="black">
                      <a:alpha val="40000"/>
                    </a:prstClr>
                  </a:outerShdw>
                </a:effectLst>
              </a:rPr>
              <a:t>Data Science and </a:t>
            </a:r>
            <a:r>
              <a:rPr lang="en-GB">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Artificial </a:t>
            </a:r>
            <a:r>
              <a:rPr lang="en-GB">
                <a:solidFill>
                  <a:schemeClr val="bg1"/>
                </a:solidFill>
                <a:effectLst>
                  <a:outerShdw blurRad="50800" dist="38100" dir="5400000" algn="t" rotWithShape="0">
                    <a:prstClr val="black">
                      <a:alpha val="40000"/>
                    </a:prstClr>
                  </a:outerShdw>
                </a:effectLst>
              </a:rPr>
              <a:t>intelligence</a:t>
            </a:r>
            <a:endParaRPr lang="en-GB">
              <a:solidFill>
                <a:schemeClr val="bg1"/>
              </a:solidFill>
              <a:effectLst>
                <a:outerShdw blurRad="50800" dist="38100" dir="5400000" algn="t" rotWithShape="0">
                  <a:prstClr val="black">
                    <a:alpha val="40000"/>
                  </a:prstClr>
                </a:outerShdw>
              </a:effectLst>
            </a:endParaRPr>
          </a:p>
        </p:txBody>
      </p:sp>
      <p:sp>
        <p:nvSpPr>
          <p:cNvPr id="6" name="Title 1"/>
          <p:cNvSpPr>
            <a:spLocks noGrp="1"/>
          </p:cNvSpPr>
          <p:nvPr/>
        </p:nvSpPr>
        <p:spPr>
          <a:xfrm>
            <a:off x="7917180" y="5843905"/>
            <a:ext cx="3778250" cy="816610"/>
          </a:xfrm>
          <a:prstGeom prst="rect">
            <a:avLst/>
          </a:prstGeom>
          <a:no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a:r>
              <a:rPr lang="en-GB">
                <a:solidFill>
                  <a:schemeClr val="bg1"/>
                </a:solidFill>
              </a:rPr>
              <a:t>5th January 2026</a:t>
            </a:r>
            <a:endParaRPr lang="en-GB">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ight Arrow 4"/>
          <p:cNvSpPr/>
          <p:nvPr/>
        </p:nvSpPr>
        <p:spPr>
          <a:xfrm>
            <a:off x="635" y="697865"/>
            <a:ext cx="5420995" cy="5016500"/>
          </a:xfrm>
          <a:prstGeom prst="rightArrow">
            <a:avLst>
              <a:gd name="adj1" fmla="val 50000"/>
              <a:gd name="adj2" fmla="val 100000"/>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effectLst>
            <a:glow rad="1536700">
              <a:schemeClr val="accent1">
                <a:lumMod val="20000"/>
                <a:lumOff val="80000"/>
                <a:alpha val="100000"/>
              </a:schemeClr>
            </a:glow>
            <a:reflection blurRad="6350" stA="50000" endA="275" endPos="40000" dist="25400" dir="5400000" sy="-100000" algn="bl" rotWithShape="0"/>
          </a:effectLst>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 name="Title 1"/>
          <p:cNvSpPr>
            <a:spLocks noGrp="1"/>
          </p:cNvSpPr>
          <p:nvPr/>
        </p:nvSpPr>
        <p:spPr>
          <a:xfrm>
            <a:off x="1071245" y="2618105"/>
            <a:ext cx="3679190" cy="810895"/>
          </a:xfrm>
          <a:prstGeom prst="snip1Rect">
            <a:avLst/>
          </a:prstGeom>
          <a:solidFill>
            <a:schemeClr val="accent2">
              <a:lumMod val="60000"/>
              <a:lumOff val="40000"/>
            </a:schemeClr>
          </a:solidFill>
        </p:spPr>
        <p:txBody>
          <a:bodyPr vert="horz" lIns="91440" tIns="45720" rIns="91440" bIns="45720" rtlCol="0" anchor="b">
            <a:normAutofit/>
          </a:bodyPr>
          <a:lstStyle>
            <a:lvl1pPr algn="l" defTabSz="457200" rtl="0" eaLnBrk="1" latinLnBrk="0" hangingPunct="1">
              <a:spcBef>
                <a:spcPct val="0"/>
              </a:spcBef>
              <a:buNone/>
              <a:defRPr sz="2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en-GB" sz="2400" b="1" dirty="0">
                <a:solidFill>
                  <a:schemeClr val="bg1"/>
                </a:solidFill>
              </a:rPr>
              <a:t>CONTENTS</a:t>
            </a:r>
            <a:endParaRPr lang="en-GB" sz="2400" b="1" dirty="0">
              <a:solidFill>
                <a:schemeClr val="bg1"/>
              </a:solidFill>
            </a:endParaRPr>
          </a:p>
        </p:txBody>
      </p:sp>
      <p:sp>
        <p:nvSpPr>
          <p:cNvPr id="6" name="Content Placeholder 2"/>
          <p:cNvSpPr>
            <a:spLocks noGrp="1"/>
          </p:cNvSpPr>
          <p:nvPr/>
        </p:nvSpPr>
        <p:spPr>
          <a:xfrm>
            <a:off x="4655185" y="0"/>
            <a:ext cx="7533640" cy="6709410"/>
          </a:xfrm>
          <a:prstGeom prst="rect">
            <a:avLst/>
          </a:prstGeom>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8100000" scaled="0"/>
          </a:gra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a:lnSpc>
                <a:spcPct val="70000"/>
              </a:lnSpc>
            </a:pPr>
            <a:endParaRPr lang="en-GB" sz="1700" dirty="0">
              <a:cs typeface="+mn-lt"/>
            </a:endParaRPr>
          </a:p>
          <a:p>
            <a:pPr>
              <a:lnSpc>
                <a:spcPct val="70000"/>
              </a:lnSpc>
            </a:pPr>
            <a:r>
              <a:rPr lang="en-GB" sz="1700" dirty="0">
                <a:cs typeface="+mn-lt"/>
              </a:rPr>
              <a:t>Title Page							1</a:t>
            </a:r>
            <a:endParaRPr lang="en-GB" sz="1700" dirty="0">
              <a:cs typeface="+mn-lt"/>
            </a:endParaRPr>
          </a:p>
          <a:p>
            <a:pPr>
              <a:lnSpc>
                <a:spcPct val="70000"/>
              </a:lnSpc>
            </a:pPr>
            <a:r>
              <a:rPr lang="en-GB" sz="1700" dirty="0">
                <a:cs typeface="+mn-lt"/>
              </a:rPr>
              <a:t>Contents							2</a:t>
            </a:r>
            <a:endParaRPr lang="en-GB" sz="1700" dirty="0">
              <a:cs typeface="+mn-lt"/>
            </a:endParaRPr>
          </a:p>
          <a:p>
            <a:pPr>
              <a:lnSpc>
                <a:spcPct val="70000"/>
              </a:lnSpc>
            </a:pPr>
            <a:r>
              <a:rPr lang="en-GB" sz="1700" dirty="0">
                <a:cs typeface="+mn-lt"/>
              </a:rPr>
              <a:t>Executive Summary					3</a:t>
            </a:r>
            <a:endParaRPr lang="en-GB" sz="1700" dirty="0">
              <a:cs typeface="+mn-lt"/>
            </a:endParaRPr>
          </a:p>
          <a:p>
            <a:pPr>
              <a:lnSpc>
                <a:spcPct val="70000"/>
              </a:lnSpc>
            </a:pPr>
            <a:r>
              <a:rPr lang="en-GB" sz="1700" dirty="0">
                <a:cs typeface="+mn-lt"/>
              </a:rPr>
              <a:t>Project Background					4</a:t>
            </a:r>
            <a:endParaRPr lang="en-GB" sz="1700" dirty="0">
              <a:cs typeface="+mn-lt"/>
            </a:endParaRPr>
          </a:p>
          <a:p>
            <a:pPr>
              <a:lnSpc>
                <a:spcPct val="70000"/>
              </a:lnSpc>
            </a:pPr>
            <a:r>
              <a:rPr lang="en-GB" sz="1700" dirty="0">
                <a:cs typeface="+mn-lt"/>
              </a:rPr>
              <a:t>Project Goal						5</a:t>
            </a:r>
            <a:endParaRPr lang="en-GB" sz="1700" dirty="0">
              <a:cs typeface="+mn-lt"/>
            </a:endParaRPr>
          </a:p>
          <a:p>
            <a:pPr>
              <a:lnSpc>
                <a:spcPct val="70000"/>
              </a:lnSpc>
            </a:pPr>
            <a:r>
              <a:rPr lang="en-GB" sz="1700" dirty="0">
                <a:cs typeface="+mn-lt"/>
              </a:rPr>
              <a:t>Objectives 						6</a:t>
            </a:r>
            <a:endParaRPr lang="en-GB" sz="1700" dirty="0">
              <a:cs typeface="+mn-lt"/>
            </a:endParaRPr>
          </a:p>
          <a:p>
            <a:pPr>
              <a:lnSpc>
                <a:spcPct val="70000"/>
              </a:lnSpc>
            </a:pPr>
            <a:r>
              <a:rPr lang="en-GB" sz="1700" dirty="0">
                <a:cs typeface="+mn-lt"/>
              </a:rPr>
              <a:t>Methodology/Data Preparation		7</a:t>
            </a:r>
            <a:endParaRPr lang="en-GB" sz="1700" dirty="0">
              <a:cs typeface="+mn-lt"/>
            </a:endParaRPr>
          </a:p>
          <a:p>
            <a:pPr>
              <a:lnSpc>
                <a:spcPct val="70000"/>
              </a:lnSpc>
            </a:pPr>
            <a:r>
              <a:rPr lang="en-GB" sz="1700">
                <a:cs typeface="+mn-lt"/>
                <a:sym typeface="+mn-ea"/>
              </a:rPr>
              <a:t>Results							8</a:t>
            </a:r>
            <a:endParaRPr lang="en-GB" sz="1700">
              <a:cs typeface="+mn-lt"/>
            </a:endParaRPr>
          </a:p>
          <a:p>
            <a:pPr marL="0" indent="388620">
              <a:lnSpc>
                <a:spcPct val="70000"/>
              </a:lnSpc>
              <a:buNone/>
              <a:defRPr sz="1400"/>
            </a:pPr>
            <a:r>
              <a:rPr lang="en-GB" sz="1700">
                <a:cs typeface="+mn-lt"/>
                <a:sym typeface="+mn-ea"/>
              </a:rPr>
              <a:t>KPI								8</a:t>
            </a:r>
            <a:endParaRPr lang="en-GB" sz="1700">
              <a:cs typeface="+mn-lt"/>
            </a:endParaRPr>
          </a:p>
          <a:p>
            <a:pPr marL="0" indent="337820">
              <a:lnSpc>
                <a:spcPct val="70000"/>
              </a:lnSpc>
              <a:buNone/>
              <a:defRPr sz="1400"/>
            </a:pPr>
            <a:r>
              <a:rPr lang="en-GB" sz="1700">
                <a:cs typeface="+mn-lt"/>
                <a:sym typeface="+mn-ea"/>
              </a:rPr>
              <a:t>Market Trends						9</a:t>
            </a:r>
            <a:endParaRPr lang="en-GB" sz="1700">
              <a:cs typeface="+mn-lt"/>
            </a:endParaRPr>
          </a:p>
          <a:p>
            <a:pPr marL="0" indent="337820">
              <a:lnSpc>
                <a:spcPct val="70000"/>
              </a:lnSpc>
              <a:buNone/>
              <a:defRPr sz="1400"/>
            </a:pPr>
            <a:r>
              <a:rPr lang="en-GB" sz="1700">
                <a:cs typeface="+mn-lt"/>
                <a:sym typeface="+mn-ea"/>
              </a:rPr>
              <a:t>Market Drivers						10</a:t>
            </a:r>
            <a:endParaRPr lang="en-GB" sz="1700">
              <a:cs typeface="+mn-lt"/>
            </a:endParaRPr>
          </a:p>
          <a:p>
            <a:pPr marL="0" indent="337820">
              <a:lnSpc>
                <a:spcPct val="70000"/>
              </a:lnSpc>
              <a:buNone/>
              <a:defRPr sz="1400"/>
            </a:pPr>
            <a:r>
              <a:rPr lang="en-GB" sz="1700">
                <a:cs typeface="+mn-lt"/>
                <a:sym typeface="+mn-ea"/>
              </a:rPr>
              <a:t>Location Insights					11</a:t>
            </a:r>
            <a:endParaRPr lang="en-GB" sz="1700">
              <a:cs typeface="+mn-lt"/>
            </a:endParaRPr>
          </a:p>
          <a:p>
            <a:pPr marL="0" indent="337820">
              <a:lnSpc>
                <a:spcPct val="70000"/>
              </a:lnSpc>
              <a:buNone/>
              <a:defRPr sz="1400"/>
            </a:pPr>
            <a:r>
              <a:rPr lang="en-GB" sz="1700">
                <a:cs typeface="+mn-lt"/>
                <a:sym typeface="+mn-ea"/>
              </a:rPr>
              <a:t>Inventory and Mix					12</a:t>
            </a:r>
            <a:endParaRPr lang="en-GB" sz="1700">
              <a:cs typeface="+mn-lt"/>
            </a:endParaRPr>
          </a:p>
          <a:p>
            <a:pPr>
              <a:lnSpc>
                <a:spcPct val="70000"/>
              </a:lnSpc>
              <a:defRPr sz="1400"/>
            </a:pPr>
            <a:r>
              <a:rPr lang="en-GB" sz="1700">
                <a:cs typeface="+mn-lt"/>
                <a:sym typeface="+mn-ea"/>
              </a:rPr>
              <a:t>Key Findings						13</a:t>
            </a:r>
            <a:endParaRPr lang="en-GB" sz="1700">
              <a:cs typeface="+mn-lt"/>
            </a:endParaRPr>
          </a:p>
          <a:p>
            <a:pPr>
              <a:lnSpc>
                <a:spcPct val="70000"/>
              </a:lnSpc>
              <a:defRPr sz="1400"/>
            </a:pPr>
            <a:r>
              <a:rPr lang="en-GB" sz="1700">
                <a:cs typeface="+mn-lt"/>
                <a:sym typeface="+mn-ea"/>
              </a:rPr>
              <a:t>Discussion of Findings				14</a:t>
            </a:r>
            <a:endParaRPr lang="en-GB" sz="1700">
              <a:cs typeface="+mn-lt"/>
            </a:endParaRPr>
          </a:p>
          <a:p>
            <a:pPr>
              <a:lnSpc>
                <a:spcPct val="70000"/>
              </a:lnSpc>
              <a:defRPr sz="1400"/>
            </a:pPr>
            <a:r>
              <a:rPr lang="en-GB" sz="1700">
                <a:cs typeface="+mn-lt"/>
                <a:sym typeface="+mn-ea"/>
              </a:rPr>
              <a:t>Strategic Implications				16</a:t>
            </a:r>
            <a:endParaRPr lang="en-GB" sz="1700">
              <a:cs typeface="+mn-lt"/>
            </a:endParaRPr>
          </a:p>
          <a:p>
            <a:pPr>
              <a:lnSpc>
                <a:spcPct val="70000"/>
              </a:lnSpc>
              <a:defRPr sz="1400"/>
            </a:pPr>
            <a:r>
              <a:rPr lang="en-GB" sz="1700">
                <a:cs typeface="+mn-lt"/>
                <a:sym typeface="+mn-ea"/>
              </a:rPr>
              <a:t>Recommendations					17</a:t>
            </a:r>
            <a:endParaRPr lang="en-GB" sz="1700">
              <a:cs typeface="+mn-lt"/>
            </a:endParaRPr>
          </a:p>
          <a:p>
            <a:pPr>
              <a:lnSpc>
                <a:spcPct val="70000"/>
              </a:lnSpc>
              <a:defRPr sz="1400"/>
            </a:pPr>
            <a:r>
              <a:rPr lang="en-GB" sz="1700">
                <a:cs typeface="+mn-lt"/>
                <a:sym typeface="+mn-ea"/>
              </a:rPr>
              <a:t>Conclusions						18</a:t>
            </a:r>
            <a:endParaRPr lang="en-GB" sz="1700">
              <a:cs typeface="+mn-lt"/>
            </a:endParaRPr>
          </a:p>
          <a:p>
            <a:pPr>
              <a:lnSpc>
                <a:spcPct val="70000"/>
              </a:lnSpc>
              <a:defRPr sz="1400"/>
            </a:pPr>
            <a:r>
              <a:rPr lang="en-GB" sz="1700">
                <a:cs typeface="+mn-lt"/>
                <a:sym typeface="+mn-ea"/>
              </a:rPr>
              <a:t>Future Scope 						19</a:t>
            </a:r>
            <a:endParaRPr lang="en-GB" sz="1700">
              <a:cs typeface="+mn-lt"/>
              <a:sym typeface="+mn-ea"/>
            </a:endParaRPr>
          </a:p>
          <a:p>
            <a:pPr>
              <a:lnSpc>
                <a:spcPct val="70000"/>
              </a:lnSpc>
              <a:defRPr sz="1400"/>
            </a:pPr>
            <a:r>
              <a:rPr lang="en-GB" sz="1700" dirty="0">
                <a:cs typeface="+mn-lt"/>
              </a:rPr>
              <a:t>Next Step							20</a:t>
            </a:r>
            <a:endParaRPr lang="en-GB" sz="1700" dirty="0">
              <a:cs typeface="+mn-lt"/>
            </a:endParaRPr>
          </a:p>
        </p:txBody>
      </p:sp>
      <p:cxnSp>
        <p:nvCxnSpPr>
          <p:cNvPr id="9" name="Elbow Connector 8"/>
          <p:cNvCxnSpPr/>
          <p:nvPr/>
        </p:nvCxnSpPr>
        <p:spPr>
          <a:xfrm rot="5400000" flipV="1">
            <a:off x="-441325" y="2180590"/>
            <a:ext cx="3543300" cy="1714500"/>
          </a:xfrm>
          <a:prstGeom prst="bentConnector3">
            <a:avLst>
              <a:gd name="adj1" fmla="val 50018"/>
            </a:avLst>
          </a:prstGeom>
          <a:gradFill rotWithShape="0">
            <a:gsLst>
              <a:gs pos="0">
                <a:schemeClr val="accent1"/>
              </a:gs>
              <a:gs pos="100000">
                <a:schemeClr val="accent2"/>
              </a:gs>
            </a:gsLst>
            <a:lin ang="5400000" scaled="1"/>
          </a:gradFill>
          <a:ln w="28575" cap="flat" cmpd="sng" algn="ctr">
            <a:solidFill>
              <a:schemeClr val="bg1"/>
            </a:solidFill>
            <a:prstDash val="lgDashDot"/>
            <a:round/>
            <a:headEnd type="none" w="med" len="med"/>
            <a:tailEnd type="none" w="med" len="med"/>
          </a:ln>
        </p:spPr>
      </p:cxnSp>
      <p:cxnSp>
        <p:nvCxnSpPr>
          <p:cNvPr id="10" name="Elbow Connector 9"/>
          <p:cNvCxnSpPr/>
          <p:nvPr/>
        </p:nvCxnSpPr>
        <p:spPr>
          <a:xfrm rot="5400000" flipV="1">
            <a:off x="7735570" y="2846070"/>
            <a:ext cx="6011545" cy="1714500"/>
          </a:xfrm>
          <a:prstGeom prst="bentConnector3">
            <a:avLst>
              <a:gd name="adj1" fmla="val 50000"/>
            </a:avLst>
          </a:prstGeom>
          <a:gradFill rotWithShape="0">
            <a:gsLst>
              <a:gs pos="0">
                <a:schemeClr val="accent1"/>
              </a:gs>
              <a:gs pos="100000">
                <a:schemeClr val="accent2"/>
              </a:gs>
            </a:gsLst>
            <a:lin ang="5400000" scaled="1"/>
          </a:gradFill>
          <a:ln w="28575" cap="flat" cmpd="sng" algn="ctr">
            <a:solidFill>
              <a:schemeClr val="bg1"/>
            </a:solidFill>
            <a:prstDash val="lgDashDot"/>
            <a:round/>
            <a:headEnd type="none" w="med" len="med"/>
            <a:tailEnd type="none" w="med" len="med"/>
          </a:ln>
        </p:spPr>
      </p:cxnSp>
      <p:sp>
        <p:nvSpPr>
          <p:cNvPr id="12" name="Text Box 11"/>
          <p:cNvSpPr txBox="1"/>
          <p:nvPr/>
        </p:nvSpPr>
        <p:spPr>
          <a:xfrm>
            <a:off x="11075670" y="6133465"/>
            <a:ext cx="522605"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2</a:t>
            </a:r>
            <a:endParaRPr lang="en-GB" altLang="en-US" b="1">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lowchart: Punched Tape 3"/>
          <p:cNvSpPr/>
          <p:nvPr/>
        </p:nvSpPr>
        <p:spPr>
          <a:xfrm>
            <a:off x="9431655" y="0"/>
            <a:ext cx="2788285" cy="6710680"/>
          </a:xfrm>
          <a:prstGeom prst="flowChartPunchedTap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 name="Title 1"/>
          <p:cNvSpPr>
            <a:spLocks noGrp="1"/>
          </p:cNvSpPr>
          <p:nvPr>
            <p:ph type="title"/>
          </p:nvPr>
        </p:nvSpPr>
        <p:spPr>
          <a:xfrm>
            <a:off x="732790" y="728980"/>
            <a:ext cx="5361940" cy="582930"/>
          </a:xfrm>
          <a:effectLst>
            <a:softEdge rad="50800"/>
          </a:effectLst>
        </p:spPr>
        <p:style>
          <a:lnRef idx="0">
            <a:srgbClr val="FFFFFF"/>
          </a:lnRef>
          <a:fillRef idx="1">
            <a:schemeClr val="accent2"/>
          </a:fillRef>
          <a:effectRef idx="0">
            <a:srgbClr val="FFFFFF"/>
          </a:effectRef>
          <a:fontRef idx="minor">
            <a:schemeClr val="lt1"/>
          </a:fontRef>
        </p:style>
        <p:txBody>
          <a:bodyPr/>
          <a:p>
            <a:r>
              <a:rPr>
                <a:solidFill>
                  <a:srgbClr val="FF6C0D"/>
                </a:solidFill>
                <a:sym typeface="+mn-ea"/>
              </a:rPr>
              <a:t>Executive Summary </a:t>
            </a:r>
            <a:endParaRPr lang="en-GB" altLang="en-US">
              <a:solidFill>
                <a:srgbClr val="FF6C0D"/>
              </a:solidFill>
              <a:sym typeface="+mn-ea"/>
            </a:endParaRPr>
          </a:p>
        </p:txBody>
      </p:sp>
      <p:sp>
        <p:nvSpPr>
          <p:cNvPr id="3" name="Content Placeholder 2"/>
          <p:cNvSpPr>
            <a:spLocks noGrp="1"/>
          </p:cNvSpPr>
          <p:nvPr>
            <p:ph idx="1"/>
          </p:nvPr>
        </p:nvSpPr>
        <p:spPr>
          <a:xfrm>
            <a:off x="732790" y="1445260"/>
            <a:ext cx="10901045" cy="4932045"/>
          </a:xfrm>
          <a:solidFill>
            <a:schemeClr val="accent6">
              <a:lumMod val="60000"/>
              <a:lumOff val="40000"/>
            </a:schemeClr>
          </a:solidFill>
        </p:spPr>
        <p:txBody>
          <a:bodyPr/>
          <a:p>
            <a:pPr marL="0" indent="0" algn="just">
              <a:buNone/>
            </a:pPr>
            <a:r>
              <a:rPr lang="en-GB" altLang="en-US" sz="2200">
                <a:solidFill>
                  <a:schemeClr val="bg1"/>
                </a:solidFill>
                <a:cs typeface="+mn-lt"/>
              </a:rPr>
              <a:t>This p</a:t>
            </a:r>
            <a:r>
              <a:rPr lang="en-US" altLang="en-GB" sz="2200">
                <a:solidFill>
                  <a:schemeClr val="bg1"/>
                </a:solidFill>
                <a:cs typeface="+mn-lt"/>
              </a:rPr>
              <a:t>roject developed an intuitive dashboard for descriptive analytics in the real estate industry</a:t>
            </a:r>
            <a:r>
              <a:rPr lang="en-GB" altLang="en-US" sz="2200">
                <a:solidFill>
                  <a:schemeClr val="bg1"/>
                </a:solidFill>
                <a:cs typeface="+mn-lt"/>
              </a:rPr>
              <a:t>. It provides </a:t>
            </a:r>
            <a:r>
              <a:rPr lang="en-US" altLang="en-GB" sz="2200">
                <a:solidFill>
                  <a:schemeClr val="bg1"/>
                </a:solidFill>
                <a:cs typeface="+mn-lt"/>
              </a:rPr>
              <a:t>clear insights into location, property characteristics, market trends, and comparable sales data</a:t>
            </a:r>
            <a:r>
              <a:rPr lang="en-GB" altLang="en-US" sz="2200">
                <a:solidFill>
                  <a:schemeClr val="bg1"/>
                </a:solidFill>
                <a:cs typeface="+mn-lt"/>
              </a:rPr>
              <a:t> using </a:t>
            </a:r>
            <a:r>
              <a:rPr lang="en-US" altLang="en-GB" sz="2200">
                <a:solidFill>
                  <a:schemeClr val="bg1"/>
                </a:solidFill>
                <a:cs typeface="+mn-lt"/>
              </a:rPr>
              <a:t>standardized resale transaction records</a:t>
            </a:r>
            <a:r>
              <a:rPr lang="en-GB" altLang="en-US" sz="2200">
                <a:solidFill>
                  <a:schemeClr val="bg1"/>
                </a:solidFill>
                <a:cs typeface="+mn-lt"/>
              </a:rPr>
              <a:t>. </a:t>
            </a:r>
            <a:r>
              <a:rPr lang="en-US" altLang="en-GB" sz="2200">
                <a:solidFill>
                  <a:schemeClr val="bg1"/>
                </a:solidFill>
                <a:cs typeface="+mn-lt"/>
              </a:rPr>
              <a:t>key indicators </a:t>
            </a:r>
            <a:r>
              <a:rPr lang="en-GB" altLang="en-US" sz="2200">
                <a:solidFill>
                  <a:schemeClr val="bg1"/>
                </a:solidFill>
                <a:cs typeface="+mn-lt"/>
              </a:rPr>
              <a:t>were used to offer highlights of the computed and visualised dashboard </a:t>
            </a:r>
            <a:r>
              <a:rPr lang="en-US" altLang="en-GB" sz="2200">
                <a:solidFill>
                  <a:schemeClr val="bg1"/>
                </a:solidFill>
                <a:cs typeface="+mn-lt"/>
              </a:rPr>
              <a:t>through charts and maps. Analysis shows resale prices are cyclical, peaking in 2013 before correcting, while aging stock dominates the market, particularly in 4‑ROOM and IMPROVED models. Central towns like Bukit Timah, Bishan, and the Central Area consistently command premiums, whereas fringe towns remain more affordable. A compact living trend is evident in declining average floor areas, and lease length strongly influences resale value, with longer leases commanding higher prices. Overall, the housing market reflects rising prices, aging stock, and geographic disparities, pointing to the need for renewal policies, affordability measures, and location‑based strategies. Predictive analytics will be critical to guide future housing planning and ensure long‑term sustainability.</a:t>
            </a:r>
            <a:endParaRPr lang="en-US" altLang="en-GB" sz="2200">
              <a:solidFill>
                <a:schemeClr val="bg1"/>
              </a:solidFill>
              <a:cs typeface="+mn-lt"/>
            </a:endParaRPr>
          </a:p>
        </p:txBody>
      </p:sp>
      <p:sp>
        <p:nvSpPr>
          <p:cNvPr id="12" name="Text Box 11"/>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3</a:t>
            </a:r>
            <a:endParaRPr lang="en-GB" altLang="en-US" b="1">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lowchart: Punched Tape 3"/>
          <p:cNvSpPr/>
          <p:nvPr/>
        </p:nvSpPr>
        <p:spPr>
          <a:xfrm>
            <a:off x="9431655" y="0"/>
            <a:ext cx="2788285" cy="6710680"/>
          </a:xfrm>
          <a:prstGeom prst="flowChartPunchedTap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 name="Title 1"/>
          <p:cNvSpPr>
            <a:spLocks noGrp="1"/>
          </p:cNvSpPr>
          <p:nvPr>
            <p:ph type="title"/>
          </p:nvPr>
        </p:nvSpPr>
        <p:spPr>
          <a:xfrm>
            <a:off x="732790" y="652780"/>
            <a:ext cx="8698865" cy="582930"/>
          </a:xfrm>
          <a:solidFill>
            <a:schemeClr val="accent2">
              <a:lumMod val="60000"/>
              <a:lumOff val="40000"/>
            </a:schemeClr>
          </a:solidFill>
          <a:effectLst>
            <a:softEdge rad="50800"/>
          </a:effectLst>
        </p:spPr>
        <p:style>
          <a:lnRef idx="0">
            <a:srgbClr val="FFFFFF"/>
          </a:lnRef>
          <a:fillRef idx="1">
            <a:schemeClr val="accent2"/>
          </a:fillRef>
          <a:effectRef idx="0">
            <a:srgbClr val="FFFFFF"/>
          </a:effectRef>
          <a:fontRef idx="minor">
            <a:schemeClr val="lt1"/>
          </a:fontRef>
        </p:style>
        <p:txBody>
          <a:bodyPr/>
          <a:p>
            <a:r>
              <a:rPr lang="en-GB">
                <a:sym typeface="+mn-ea"/>
              </a:rPr>
              <a:t>Project Background</a:t>
            </a:r>
            <a:endParaRPr lang="en-GB">
              <a:sym typeface="+mn-ea"/>
            </a:endParaRPr>
          </a:p>
        </p:txBody>
      </p:sp>
      <p:sp>
        <p:nvSpPr>
          <p:cNvPr id="3" name="Content Placeholder 2"/>
          <p:cNvSpPr>
            <a:spLocks noGrp="1"/>
          </p:cNvSpPr>
          <p:nvPr>
            <p:ph idx="1"/>
          </p:nvPr>
        </p:nvSpPr>
        <p:spPr>
          <a:xfrm>
            <a:off x="732790" y="1445260"/>
            <a:ext cx="10728960" cy="4835525"/>
          </a:xfrm>
          <a:solidFill>
            <a:schemeClr val="accent6">
              <a:lumMod val="75000"/>
            </a:schemeClr>
          </a:solidFill>
        </p:spPr>
        <p:txBody>
          <a:bodyPr/>
          <a:p>
            <a:pPr marL="0" indent="0" algn="just">
              <a:buNone/>
            </a:pPr>
            <a:r>
              <a:rPr lang="en-US" altLang="en-GB" sz="2400">
                <a:solidFill>
                  <a:schemeClr val="bg1"/>
                </a:solidFill>
                <a:cs typeface="+mn-lt"/>
              </a:rPr>
              <a:t>Accurate property valuation is central to decision‑making in the real estate industry, shaping how property owners, investors, and professionals assess fair market prices, negotiate transactions, and evaluate investment opportunities. However, valuation is often challenged by diverse factors such as location, property characteristics, lease conditions, and market cycles. This project addresses these challenges by developing a comprehensive dashboard that applies descriptive analytics to resale transaction data. Through structured data preparation and visualization, the dashboard reveals critical trends—including cyclical pricing behavior, the impact of lease length, geographic disparities, and the growing compact living trend—providing stakeholders with reliable insights to support informed and strategic real estate decisions.</a:t>
            </a:r>
            <a:endParaRPr lang="en-US" altLang="en-GB" sz="2400">
              <a:solidFill>
                <a:schemeClr val="bg1"/>
              </a:solidFill>
              <a:cs typeface="+mn-lt"/>
            </a:endParaRPr>
          </a:p>
        </p:txBody>
      </p:sp>
      <p:sp>
        <p:nvSpPr>
          <p:cNvPr id="12" name="Text Box 11"/>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4</a:t>
            </a:r>
            <a:endParaRPr lang="en-GB" altLang="en-US" b="1">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Flowchart: Punched Tape 8"/>
          <p:cNvSpPr/>
          <p:nvPr/>
        </p:nvSpPr>
        <p:spPr>
          <a:xfrm flipH="1" flipV="1">
            <a:off x="438150" y="716915"/>
            <a:ext cx="5158740" cy="915035"/>
          </a:xfrm>
          <a:prstGeom prst="flowChartPunchedTape">
            <a:avLst/>
          </a:prstGeom>
          <a:gradFill rotWithShape="0">
            <a:gsLst>
              <a:gs pos="0">
                <a:schemeClr val="accent1">
                  <a:lumMod val="0"/>
                  <a:alpha val="0"/>
                  <a:lumOff val="10000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 name="Title 1"/>
          <p:cNvSpPr>
            <a:spLocks noGrp="1"/>
          </p:cNvSpPr>
          <p:nvPr>
            <p:ph type="title"/>
          </p:nvPr>
        </p:nvSpPr>
        <p:spPr>
          <a:xfrm>
            <a:off x="933450" y="911225"/>
            <a:ext cx="4606925" cy="582930"/>
          </a:xfrm>
        </p:spPr>
        <p:txBody>
          <a:bodyPr/>
          <a:p>
            <a:r>
              <a:rPr lang="en-GB" altLang="en-US" b="1">
                <a:solidFill>
                  <a:schemeClr val="accent3">
                    <a:lumMod val="60000"/>
                    <a:lumOff val="40000"/>
                  </a:schemeClr>
                </a:solidFill>
              </a:rPr>
              <a:t>PROJECT GOAL</a:t>
            </a:r>
            <a:endParaRPr lang="en-GB" altLang="en-US" b="1">
              <a:solidFill>
                <a:schemeClr val="accent3">
                  <a:lumMod val="60000"/>
                  <a:lumOff val="40000"/>
                </a:schemeClr>
              </a:solidFill>
            </a:endParaRPr>
          </a:p>
        </p:txBody>
      </p:sp>
      <p:sp>
        <p:nvSpPr>
          <p:cNvPr id="3" name="Content Placeholder 2"/>
          <p:cNvSpPr>
            <a:spLocks noGrp="1"/>
          </p:cNvSpPr>
          <p:nvPr>
            <p:ph idx="1"/>
          </p:nvPr>
        </p:nvSpPr>
        <p:spPr>
          <a:xfrm>
            <a:off x="1294765" y="2241550"/>
            <a:ext cx="8722360" cy="2381250"/>
          </a:xfrm>
        </p:spPr>
        <p:txBody>
          <a:bodyPr/>
          <a:p>
            <a:pPr marL="0" indent="0" algn="just">
              <a:lnSpc>
                <a:spcPct val="150000"/>
              </a:lnSpc>
              <a:buNone/>
            </a:pPr>
            <a:r>
              <a:rPr lang="en-US" altLang="en-GB" sz="2800" b="1">
                <a:sym typeface="+mn-ea"/>
              </a:rPr>
              <a:t>The goal of this project is to develop an intuitive and comprehensive dashboard for descriptive analytics in the real estate industry.</a:t>
            </a:r>
            <a:endParaRPr lang="en-US" altLang="en-GB" sz="2800" b="1"/>
          </a:p>
          <a:p>
            <a:pPr marL="0" indent="0" algn="just">
              <a:buNone/>
            </a:pPr>
            <a:endParaRPr lang="en-US" altLang="en-GB" sz="2800" b="1"/>
          </a:p>
        </p:txBody>
      </p:sp>
      <p:sp>
        <p:nvSpPr>
          <p:cNvPr id="5" name="Flowchart: Punched Tape 4"/>
          <p:cNvSpPr/>
          <p:nvPr/>
        </p:nvSpPr>
        <p:spPr>
          <a:xfrm>
            <a:off x="635" y="630555"/>
            <a:ext cx="12188190" cy="5998845"/>
          </a:xfrm>
          <a:prstGeom prst="flowChartPunchedTape">
            <a:avLst/>
          </a:prstGeom>
          <a:gradFill rotWithShape="0">
            <a:gsLst>
              <a:gs pos="85000">
                <a:schemeClr val="accent1">
                  <a:lumMod val="95000"/>
                  <a:alpha val="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 name="Flowchart: Punched Tape 5"/>
          <p:cNvSpPr/>
          <p:nvPr/>
        </p:nvSpPr>
        <p:spPr>
          <a:xfrm>
            <a:off x="10064750" y="911225"/>
            <a:ext cx="2155190" cy="4542155"/>
          </a:xfrm>
          <a:prstGeom prst="flowChartPunchedTap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2" name="Text Box 11"/>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5</a:t>
            </a:r>
            <a:endParaRPr lang="en-GB" altLang="en-US" b="1">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lowchart: Punched Tape 3"/>
          <p:cNvSpPr/>
          <p:nvPr/>
        </p:nvSpPr>
        <p:spPr>
          <a:xfrm>
            <a:off x="3146425" y="-635"/>
            <a:ext cx="8865235" cy="6711315"/>
          </a:xfrm>
          <a:prstGeom prst="flowChartPunchedTape">
            <a:avLst/>
          </a:prstGeom>
          <a:gradFill rotWithShape="0">
            <a:gsLst>
              <a:gs pos="85000">
                <a:schemeClr val="accent1">
                  <a:lumMod val="95000"/>
                  <a:alpha val="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5" name="Right Arrow 4"/>
          <p:cNvSpPr/>
          <p:nvPr/>
        </p:nvSpPr>
        <p:spPr>
          <a:xfrm>
            <a:off x="609600" y="355600"/>
            <a:ext cx="2784475" cy="1371600"/>
          </a:xfrm>
          <a:prstGeom prst="rightArrow">
            <a:avLst>
              <a:gd name="adj1" fmla="val 50000"/>
              <a:gd name="adj2" fmla="val 100000"/>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effectLst>
            <a:glow rad="1536700">
              <a:schemeClr val="accent1">
                <a:lumMod val="20000"/>
                <a:lumOff val="80000"/>
                <a:alpha val="100000"/>
              </a:schemeClr>
            </a:glow>
            <a:reflection blurRad="6350" stA="50000" endA="275" endPos="40000" dist="25400" dir="5400000" sy="-100000" algn="bl" rotWithShape="0"/>
          </a:effectLst>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 name="Title 1"/>
          <p:cNvSpPr>
            <a:spLocks noGrp="1"/>
          </p:cNvSpPr>
          <p:nvPr>
            <p:ph type="title"/>
          </p:nvPr>
        </p:nvSpPr>
        <p:spPr>
          <a:xfrm>
            <a:off x="781050" y="749935"/>
            <a:ext cx="5103495" cy="582930"/>
          </a:xfrm>
        </p:spPr>
        <p:txBody>
          <a:bodyPr/>
          <a:p>
            <a:r>
              <a:rPr lang="en-US" altLang="en-GB" b="1">
                <a:solidFill>
                  <a:schemeClr val="bg1"/>
                </a:solidFill>
                <a:sym typeface="+mn-ea"/>
              </a:rPr>
              <a:t>Objective</a:t>
            </a:r>
            <a:endParaRPr lang="en-US" altLang="en-GB" b="1">
              <a:solidFill>
                <a:schemeClr val="bg1"/>
              </a:solidFill>
              <a:sym typeface="+mn-ea"/>
            </a:endParaRPr>
          </a:p>
        </p:txBody>
      </p:sp>
      <p:sp>
        <p:nvSpPr>
          <p:cNvPr id="3" name="Content Placeholder 2"/>
          <p:cNvSpPr>
            <a:spLocks noGrp="1"/>
          </p:cNvSpPr>
          <p:nvPr>
            <p:ph idx="1"/>
          </p:nvPr>
        </p:nvSpPr>
        <p:spPr>
          <a:xfrm>
            <a:off x="944721" y="1562100"/>
            <a:ext cx="10969943" cy="4953000"/>
          </a:xfrm>
        </p:spPr>
        <p:txBody>
          <a:bodyPr/>
          <a:p>
            <a:pPr marL="0" indent="0">
              <a:lnSpc>
                <a:spcPct val="20000"/>
              </a:lnSpc>
              <a:buNone/>
            </a:pPr>
            <a:endParaRPr lang="en-US" altLang="en-GB" sz="2800"/>
          </a:p>
          <a:p>
            <a:pPr marL="0" indent="0">
              <a:buNone/>
            </a:pPr>
            <a:r>
              <a:rPr lang="en-US" altLang="en-GB" sz="2800"/>
              <a:t>The dashboard provides valuable insights and visualizations based on key factors such as location, property characteristics, market trends, and comparable sales data.</a:t>
            </a:r>
            <a:endParaRPr lang="en-US" altLang="en-GB" sz="2800"/>
          </a:p>
          <a:p>
            <a:pPr marL="0" indent="0">
              <a:lnSpc>
                <a:spcPct val="30000"/>
              </a:lnSpc>
              <a:buNone/>
            </a:pPr>
            <a:endParaRPr lang="en-US" altLang="en-GB" sz="2800"/>
          </a:p>
          <a:p>
            <a:pPr marL="0" indent="0">
              <a:buNone/>
            </a:pPr>
            <a:r>
              <a:rPr lang="en-US" altLang="en-GB" sz="2800"/>
              <a:t>By leveraging advanced data analysis techniques and visualization tools, we aim to create a user‑friendly and informative dashboard that enhances the understanding of real estate market dynamics.</a:t>
            </a:r>
            <a:endParaRPr lang="en-US" altLang="en-GB" sz="2800"/>
          </a:p>
        </p:txBody>
      </p:sp>
      <p:grpSp>
        <p:nvGrpSpPr>
          <p:cNvPr id="9" name="Group 8"/>
          <p:cNvGrpSpPr/>
          <p:nvPr/>
        </p:nvGrpSpPr>
        <p:grpSpPr>
          <a:xfrm>
            <a:off x="206375" y="1727200"/>
            <a:ext cx="738505" cy="2118995"/>
            <a:chOff x="277" y="2720"/>
            <a:chExt cx="1163" cy="3337"/>
          </a:xfrm>
        </p:grpSpPr>
        <p:sp>
          <p:nvSpPr>
            <p:cNvPr id="6" name="Diamond 5"/>
            <p:cNvSpPr/>
            <p:nvPr/>
          </p:nvSpPr>
          <p:spPr>
            <a:xfrm>
              <a:off x="277" y="2720"/>
              <a:ext cx="905" cy="870"/>
            </a:xfrm>
            <a:prstGeom prst="diamond">
              <a:avLst/>
            </a:prstGeom>
            <a:solidFill>
              <a:schemeClr val="accent3">
                <a:lumMod val="20000"/>
                <a:lumOff val="80000"/>
              </a:schemeClr>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8" name="Diamond 7"/>
            <p:cNvSpPr/>
            <p:nvPr/>
          </p:nvSpPr>
          <p:spPr>
            <a:xfrm>
              <a:off x="535" y="2720"/>
              <a:ext cx="905" cy="870"/>
            </a:xfrm>
            <a:prstGeom prst="diamond">
              <a:avLst/>
            </a:prstGeom>
            <a:solidFill>
              <a:schemeClr val="bg1"/>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3" name="Diamond 12"/>
            <p:cNvSpPr/>
            <p:nvPr/>
          </p:nvSpPr>
          <p:spPr>
            <a:xfrm>
              <a:off x="325" y="5187"/>
              <a:ext cx="905" cy="870"/>
            </a:xfrm>
            <a:prstGeom prst="diamond">
              <a:avLst/>
            </a:prstGeom>
            <a:solidFill>
              <a:schemeClr val="accent3">
                <a:lumMod val="20000"/>
                <a:lumOff val="80000"/>
              </a:schemeClr>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2" name="Diamond 11"/>
            <p:cNvSpPr/>
            <p:nvPr/>
          </p:nvSpPr>
          <p:spPr>
            <a:xfrm>
              <a:off x="514" y="5187"/>
              <a:ext cx="905" cy="870"/>
            </a:xfrm>
            <a:prstGeom prst="diamond">
              <a:avLst/>
            </a:prstGeom>
            <a:solidFill>
              <a:schemeClr val="bg1"/>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grpSp>
      <p:sp>
        <p:nvSpPr>
          <p:cNvPr id="15" name="Text Box 14"/>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6</a:t>
            </a:r>
            <a:endParaRPr lang="en-GB" altLang="en-US" b="1">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ln w="12700">
                  <a:solidFill>
                    <a:schemeClr val="accent1"/>
                  </a:solidFill>
                  <a:prstDash val="solid"/>
                </a:ln>
                <a:pattFill prst="pct50">
                  <a:fgClr>
                    <a:schemeClr val="accent1"/>
                  </a:fgClr>
                  <a:bgClr>
                    <a:schemeClr val="accent1">
                      <a:lumMod val="20000"/>
                      <a:lumOff val="80000"/>
                    </a:schemeClr>
                  </a:bgClr>
                </a:pattFill>
                <a:effectLst>
                  <a:outerShdw blurRad="63500" sx="102000" sy="102000" algn="ctr" rotWithShape="0">
                    <a:prstClr val="black">
                      <a:alpha val="40000"/>
                    </a:prstClr>
                  </a:outerShdw>
                </a:effectLst>
                <a:sym typeface="+mn-ea"/>
              </a:rPr>
              <a:t>Methodology – Data Preparation</a:t>
            </a:r>
            <a:endParaRPr lang="en-US" altLang="en-GB">
              <a:ln w="12700">
                <a:solidFill>
                  <a:schemeClr val="accent1"/>
                </a:solidFill>
                <a:prstDash val="solid"/>
              </a:ln>
              <a:pattFill prst="pct50">
                <a:fgClr>
                  <a:schemeClr val="accent1"/>
                </a:fgClr>
                <a:bgClr>
                  <a:schemeClr val="accent1">
                    <a:lumMod val="20000"/>
                    <a:lumOff val="80000"/>
                  </a:schemeClr>
                </a:bgClr>
              </a:pattFill>
              <a:effectLst>
                <a:outerShdw blurRad="63500" sx="102000" sy="102000" algn="ctr" rotWithShape="0">
                  <a:prstClr val="black">
                    <a:alpha val="40000"/>
                  </a:prstClr>
                </a:outerShdw>
              </a:effectLst>
              <a:sym typeface="+mn-ea"/>
            </a:endParaRPr>
          </a:p>
        </p:txBody>
      </p:sp>
      <p:sp>
        <p:nvSpPr>
          <p:cNvPr id="3" name="Content Placeholder 2"/>
          <p:cNvSpPr>
            <a:spLocks noGrp="1"/>
          </p:cNvSpPr>
          <p:nvPr>
            <p:ph idx="1"/>
          </p:nvPr>
        </p:nvSpPr>
        <p:spPr>
          <a:xfrm>
            <a:off x="1406525" y="1235075"/>
            <a:ext cx="10508615" cy="4953000"/>
          </a:xfrm>
        </p:spPr>
        <p:txBody>
          <a:bodyPr/>
          <a:p>
            <a:pPr marL="0" indent="0">
              <a:buNone/>
            </a:pPr>
            <a:r>
              <a:rPr lang="en-US" altLang="en-GB" sz="2400"/>
              <a:t>Data Source: Resale transaction records across towns, flat types, and lease categories.</a:t>
            </a:r>
            <a:endParaRPr lang="en-US" altLang="en-GB" sz="2400"/>
          </a:p>
          <a:p>
            <a:pPr marL="0" indent="0">
              <a:lnSpc>
                <a:spcPct val="10000"/>
              </a:lnSpc>
              <a:buNone/>
            </a:pPr>
            <a:endParaRPr lang="en-US" altLang="en-GB" sz="2400"/>
          </a:p>
          <a:p>
            <a:pPr marL="0" indent="0">
              <a:buNone/>
            </a:pPr>
            <a:r>
              <a:rPr lang="en-US" altLang="en-GB" sz="2400"/>
              <a:t>Cleaning &amp; Transformation: Removed duplicates, standardized formats (dates, prices, sqm), and handled missing values.</a:t>
            </a:r>
            <a:endParaRPr lang="en-US" altLang="en-GB" sz="2400"/>
          </a:p>
          <a:p>
            <a:pPr marL="0" indent="0">
              <a:lnSpc>
                <a:spcPct val="20000"/>
              </a:lnSpc>
              <a:buNone/>
            </a:pPr>
            <a:endParaRPr lang="en-US" altLang="en-GB" sz="2400"/>
          </a:p>
          <a:p>
            <a:pPr marL="0" indent="0">
              <a:buNone/>
            </a:pPr>
            <a:r>
              <a:rPr lang="en-US" altLang="en-GB" sz="2400"/>
              <a:t>Feature Engineering: Created KPIs such as average resale price, price per sqm, lease age, transaction volume, and floor area.</a:t>
            </a:r>
            <a:endParaRPr lang="en-US" altLang="en-GB" sz="2400"/>
          </a:p>
          <a:p>
            <a:pPr marL="0" indent="0">
              <a:lnSpc>
                <a:spcPct val="20000"/>
              </a:lnSpc>
              <a:buNone/>
            </a:pPr>
            <a:endParaRPr lang="en-US" altLang="en-GB" sz="2400"/>
          </a:p>
          <a:p>
            <a:pPr marL="0" indent="0">
              <a:buNone/>
            </a:pPr>
            <a:r>
              <a:rPr lang="en-US" altLang="en-GB" sz="2400"/>
              <a:t>Segmentation: Grouped data by flat type, storey bucket, lease bucket, and town for comparative analysis.</a:t>
            </a:r>
            <a:endParaRPr lang="en-US" altLang="en-GB" sz="2400"/>
          </a:p>
          <a:p>
            <a:pPr marL="0" indent="0">
              <a:lnSpc>
                <a:spcPct val="20000"/>
              </a:lnSpc>
              <a:buNone/>
            </a:pPr>
            <a:endParaRPr lang="en-US" altLang="en-GB" sz="2400"/>
          </a:p>
          <a:p>
            <a:pPr marL="0" indent="0">
              <a:buNone/>
            </a:pPr>
            <a:r>
              <a:rPr lang="en-US" altLang="en-GB" sz="2400"/>
              <a:t>Visualization Prep: Structured datasets for line charts, bar charts, scatter plots, heatmaps, and maps to highlight trends and drivers.</a:t>
            </a:r>
            <a:endParaRPr lang="en-US" altLang="en-GB" sz="2400"/>
          </a:p>
        </p:txBody>
      </p:sp>
      <p:sp>
        <p:nvSpPr>
          <p:cNvPr id="4" name="Flowchart: Punched Tape 3"/>
          <p:cNvSpPr/>
          <p:nvPr/>
        </p:nvSpPr>
        <p:spPr>
          <a:xfrm>
            <a:off x="528955" y="711835"/>
            <a:ext cx="11386185" cy="5998845"/>
          </a:xfrm>
          <a:prstGeom prst="flowChartPunchedTape">
            <a:avLst/>
          </a:prstGeom>
          <a:gradFill rotWithShape="0">
            <a:gsLst>
              <a:gs pos="85000">
                <a:schemeClr val="accent1">
                  <a:lumMod val="95000"/>
                  <a:alpha val="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5" name="Up Arrow Callout 4"/>
          <p:cNvSpPr/>
          <p:nvPr/>
        </p:nvSpPr>
        <p:spPr>
          <a:xfrm flipV="1">
            <a:off x="506095" y="190500"/>
            <a:ext cx="6958330" cy="955040"/>
          </a:xfrm>
          <a:prstGeom prst="upArrowCallout">
            <a:avLst/>
          </a:prstGeom>
          <a:no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 name="Diamond 5"/>
          <p:cNvSpPr/>
          <p:nvPr/>
        </p:nvSpPr>
        <p:spPr>
          <a:xfrm>
            <a:off x="1051560" y="1323975"/>
            <a:ext cx="382270" cy="3048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 name="Diamond 6"/>
          <p:cNvSpPr/>
          <p:nvPr/>
        </p:nvSpPr>
        <p:spPr>
          <a:xfrm>
            <a:off x="1051560" y="2257425"/>
            <a:ext cx="382270" cy="3048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8" name="Diamond 7"/>
          <p:cNvSpPr/>
          <p:nvPr/>
        </p:nvSpPr>
        <p:spPr>
          <a:xfrm>
            <a:off x="1051560" y="3190875"/>
            <a:ext cx="382270" cy="3048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9" name="Diamond 8"/>
          <p:cNvSpPr/>
          <p:nvPr/>
        </p:nvSpPr>
        <p:spPr>
          <a:xfrm>
            <a:off x="1051560" y="4124325"/>
            <a:ext cx="382270" cy="3048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0" name="Diamond 9"/>
          <p:cNvSpPr/>
          <p:nvPr/>
        </p:nvSpPr>
        <p:spPr>
          <a:xfrm>
            <a:off x="1051560" y="5057775"/>
            <a:ext cx="382270" cy="3048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1" name="Text Box 10"/>
          <p:cNvSpPr txBox="1"/>
          <p:nvPr/>
        </p:nvSpPr>
        <p:spPr>
          <a:xfrm>
            <a:off x="11075670" y="6133465"/>
            <a:ext cx="523240" cy="540385"/>
          </a:xfrm>
          <a:prstGeom prst="rect">
            <a:avLst/>
          </a:prstGeom>
          <a:solidFill>
            <a:schemeClr val="accent1"/>
          </a:solidFill>
        </p:spPr>
        <p:txBody>
          <a:bodyPr wrap="square" rtlCol="0">
            <a:noAutofit/>
          </a:bodyPr>
          <a:p>
            <a:pPr algn="ctr"/>
            <a:endParaRPr lang="en-GB" altLang="en-US" b="1">
              <a:solidFill>
                <a:schemeClr val="bg1"/>
              </a:solidFill>
            </a:endParaRPr>
          </a:p>
          <a:p>
            <a:r>
              <a:rPr lang="en-GB" altLang="en-US" b="1">
                <a:solidFill>
                  <a:schemeClr val="bg1"/>
                </a:solidFill>
              </a:rPr>
              <a:t>8</a:t>
            </a:r>
            <a:endParaRPr lang="en-GB" altLang="en-US" b="1">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5465" y="245745"/>
            <a:ext cx="6063615" cy="690880"/>
          </a:xfrm>
        </p:spPr>
        <p:txBody>
          <a:bodyPr>
            <a:scene3d>
              <a:camera prst="orthographicFront"/>
              <a:lightRig rig="threePt" dir="t"/>
            </a:scene3d>
          </a:bodyPr>
          <a:lstStyle/>
          <a:p>
            <a:r>
              <a:rPr>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Key Performance Indicators</a:t>
            </a:r>
            <a:endParaRPr>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3" name="Content Placeholder 2"/>
          <p:cNvSpPr>
            <a:spLocks noGrp="1"/>
          </p:cNvSpPr>
          <p:nvPr>
            <p:ph idx="1"/>
          </p:nvPr>
        </p:nvSpPr>
        <p:spPr>
          <a:xfrm>
            <a:off x="8129270" y="1828165"/>
            <a:ext cx="3990975" cy="463550"/>
          </a:xfrm>
          <a:solidFill>
            <a:srgbClr val="FF0000"/>
          </a:solidFill>
        </p:spPr>
        <p:txBody>
          <a:bodyPr/>
          <a:lstStyle/>
          <a:p>
            <a:pPr marL="0" indent="0">
              <a:spcAft>
                <a:spcPts val="1000"/>
              </a:spcAft>
              <a:buNone/>
              <a:defRPr sz="1800"/>
            </a:pPr>
            <a:r>
              <a:rPr b="1">
                <a:solidFill>
                  <a:schemeClr val="bg1"/>
                </a:solidFill>
              </a:rPr>
              <a:t>These KPIs </a:t>
            </a:r>
            <a:r>
              <a:rPr lang="en-GB" b="1">
                <a:solidFill>
                  <a:schemeClr val="bg1"/>
                </a:solidFill>
              </a:rPr>
              <a:t>measures as follows: </a:t>
            </a:r>
            <a:br>
              <a:rPr>
                <a:solidFill>
                  <a:schemeClr val="bg1"/>
                </a:solidFill>
              </a:rPr>
            </a:br>
            <a:endParaRPr>
              <a:solidFill>
                <a:schemeClr val="bg1"/>
              </a:solidFill>
            </a:endParaRPr>
          </a:p>
        </p:txBody>
      </p:sp>
      <p:sp>
        <p:nvSpPr>
          <p:cNvPr id="5" name="Title 1"/>
          <p:cNvSpPr>
            <a:spLocks noGrp="1"/>
          </p:cNvSpPr>
          <p:nvPr/>
        </p:nvSpPr>
        <p:spPr>
          <a:xfrm>
            <a:off x="497840" y="245745"/>
            <a:ext cx="6063615" cy="690880"/>
          </a:xfrm>
          <a:prstGeom prst="rect">
            <a:avLst/>
          </a:prstGeom>
          <a:noFill/>
          <a:ln w="9525">
            <a:noFill/>
          </a:ln>
        </p:spPr>
        <p:txBody>
          <a:bodyPr anchor="ctr" anchorCtr="0">
            <a:scene3d>
              <a:camera prst="orthographicFront"/>
              <a:lightRig rig="threePt" dir="t"/>
            </a:scene3d>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Key Performance Indicators</a:t>
            </a:r>
            <a:endPar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9" name="Flowchart: Punched Tape 8"/>
          <p:cNvSpPr/>
          <p:nvPr/>
        </p:nvSpPr>
        <p:spPr>
          <a:xfrm flipH="1">
            <a:off x="6094730" y="245745"/>
            <a:ext cx="6094095" cy="6857365"/>
          </a:xfrm>
          <a:prstGeom prst="flowChartPunchedTape">
            <a:avLst/>
          </a:prstGeom>
          <a:gradFill rotWithShape="0">
            <a:gsLst>
              <a:gs pos="0">
                <a:schemeClr val="accent1">
                  <a:lumMod val="0"/>
                  <a:alpha val="0"/>
                  <a:lumOff val="10000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6" name="Picture 5"/>
          <p:cNvPicPr>
            <a:picLocks noChangeAspect="1"/>
          </p:cNvPicPr>
          <p:nvPr/>
        </p:nvPicPr>
        <p:blipFill>
          <a:blip r:embed="rId1"/>
          <a:stretch>
            <a:fillRect/>
          </a:stretch>
        </p:blipFill>
        <p:spPr>
          <a:xfrm>
            <a:off x="368300" y="1043305"/>
            <a:ext cx="7760970" cy="5090160"/>
          </a:xfrm>
          <a:prstGeom prst="rect">
            <a:avLst/>
          </a:prstGeom>
        </p:spPr>
      </p:pic>
      <p:sp>
        <p:nvSpPr>
          <p:cNvPr id="11" name="Text Box 10"/>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10</a:t>
            </a:r>
            <a:endParaRPr lang="en-GB" altLang="en-US" b="1">
              <a:solidFill>
                <a:schemeClr val="bg1"/>
              </a:solidFill>
            </a:endParaRPr>
          </a:p>
        </p:txBody>
      </p:sp>
      <p:sp>
        <p:nvSpPr>
          <p:cNvPr id="7" name="Text Box 6"/>
          <p:cNvSpPr txBox="1"/>
          <p:nvPr/>
        </p:nvSpPr>
        <p:spPr>
          <a:xfrm>
            <a:off x="8283575" y="2323465"/>
            <a:ext cx="3745230" cy="3978275"/>
          </a:xfrm>
          <a:prstGeom prst="rect">
            <a:avLst/>
          </a:prstGeom>
          <a:noFill/>
        </p:spPr>
        <p:txBody>
          <a:bodyPr wrap="square" rtlCol="0" anchor="t">
            <a:noAutofit/>
          </a:bodyPr>
          <a:p>
            <a:pPr marL="309245" indent="-309245" algn="just">
              <a:buClr>
                <a:srgbClr val="92D050"/>
              </a:buClr>
              <a:buFont typeface="Wingdings" panose="05000000000000000000" charset="0"/>
              <a:buChar char="v"/>
            </a:pPr>
            <a:r>
              <a:rPr>
                <a:sym typeface="+mn-ea"/>
              </a:rPr>
              <a:t> A</a:t>
            </a:r>
            <a:r>
              <a:rPr lang="en-GB">
                <a:sym typeface="+mn-ea"/>
              </a:rPr>
              <a:t>RP</a:t>
            </a:r>
            <a:r>
              <a:rPr>
                <a:sym typeface="+mn-ea"/>
              </a:rPr>
              <a:t>: Indicates overall market affordability and pricing trends.</a:t>
            </a:r>
            <a:endParaRPr>
              <a:sym typeface="+mn-ea"/>
            </a:endParaRPr>
          </a:p>
          <a:p>
            <a:pPr marL="309245" indent="-309245" algn="just">
              <a:buClr>
                <a:srgbClr val="92D050"/>
              </a:buClr>
              <a:buFont typeface="Wingdings" panose="05000000000000000000" charset="0"/>
              <a:buChar char="v"/>
            </a:pPr>
            <a:r>
              <a:rPr lang="en-GB">
                <a:sym typeface="+mn-ea"/>
              </a:rPr>
              <a:t>APPS</a:t>
            </a:r>
            <a:r>
              <a:rPr>
                <a:sym typeface="+mn-ea"/>
              </a:rPr>
              <a:t>: Normalizes value across different flat sizes for better comparison.</a:t>
            </a:r>
            <a:endParaRPr>
              <a:sym typeface="+mn-ea"/>
            </a:endParaRPr>
          </a:p>
          <a:p>
            <a:pPr marL="309245" indent="-309245" algn="just">
              <a:buClr>
                <a:srgbClr val="92D050"/>
              </a:buClr>
              <a:buFont typeface="Wingdings" panose="05000000000000000000" charset="0"/>
              <a:buChar char="v"/>
            </a:pPr>
            <a:r>
              <a:rPr lang="en-GB">
                <a:sym typeface="+mn-ea"/>
              </a:rPr>
              <a:t>ALB</a:t>
            </a:r>
            <a:r>
              <a:rPr>
                <a:sym typeface="+mn-ea"/>
              </a:rPr>
              <a:t>: Reflects the age of housing stock and potential renovation needs.</a:t>
            </a:r>
            <a:endParaRPr>
              <a:sym typeface="+mn-ea"/>
            </a:endParaRPr>
          </a:p>
          <a:p>
            <a:pPr marL="309245" indent="-309245" algn="just">
              <a:buClr>
                <a:srgbClr val="92D050"/>
              </a:buClr>
              <a:buFont typeface="Wingdings" panose="05000000000000000000" charset="0"/>
              <a:buChar char="v"/>
            </a:pPr>
            <a:r>
              <a:rPr>
                <a:sym typeface="+mn-ea"/>
              </a:rPr>
              <a:t>Total Transactions: Measures market activity and buyer/seller engagement.</a:t>
            </a:r>
            <a:endParaRPr>
              <a:sym typeface="+mn-ea"/>
            </a:endParaRPr>
          </a:p>
          <a:p>
            <a:pPr marL="309245" indent="-309245" algn="just">
              <a:buClr>
                <a:srgbClr val="92D050"/>
              </a:buClr>
              <a:buFont typeface="Wingdings" panose="05000000000000000000" charset="0"/>
              <a:buChar char="v"/>
            </a:pPr>
            <a:r>
              <a:rPr>
                <a:sym typeface="+mn-ea"/>
              </a:rPr>
              <a:t> </a:t>
            </a:r>
            <a:r>
              <a:rPr lang="en-GB">
                <a:sym typeface="+mn-ea"/>
              </a:rPr>
              <a:t>AFA</a:t>
            </a:r>
            <a:r>
              <a:rPr>
                <a:sym typeface="+mn-ea"/>
              </a:rPr>
              <a:t>: Shows typical flat size, indicating buyer preferences.</a:t>
            </a:r>
            <a:endParaRPr lang="en-GB" altLang="en-US">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76250" y="190500"/>
            <a:ext cx="6065520" cy="582930"/>
          </a:xfrm>
        </p:spPr>
        <p:txBody>
          <a:bodyPr/>
          <a:lstStyle/>
          <a:p>
            <a:r>
              <a:rPr b="1">
                <a:solidFill>
                  <a:schemeClr val="accent1"/>
                </a:solidFill>
              </a:rPr>
              <a:t>Market Trends</a:t>
            </a:r>
            <a:endParaRPr b="1">
              <a:solidFill>
                <a:schemeClr val="accent1"/>
              </a:solidFill>
            </a:endParaRPr>
          </a:p>
        </p:txBody>
      </p:sp>
      <p:sp>
        <p:nvSpPr>
          <p:cNvPr id="3" name="Content Placeholder 2"/>
          <p:cNvSpPr>
            <a:spLocks noGrp="1"/>
          </p:cNvSpPr>
          <p:nvPr>
            <p:ph idx="1"/>
          </p:nvPr>
        </p:nvSpPr>
        <p:spPr>
          <a:xfrm>
            <a:off x="443865" y="5005070"/>
            <a:ext cx="10750550" cy="1634490"/>
          </a:xfrm>
          <a:solidFill>
            <a:schemeClr val="bg1"/>
          </a:solidFill>
        </p:spPr>
        <p:txBody>
          <a:bodyPr/>
          <a:lstStyle/>
          <a:p>
            <a:pPr marL="0" indent="0">
              <a:lnSpc>
                <a:spcPct val="90000"/>
              </a:lnSpc>
              <a:spcAft>
                <a:spcPts val="1000"/>
              </a:spcAft>
              <a:buFont typeface="Wingdings" panose="05000000000000000000" charset="0"/>
              <a:buNone/>
              <a:defRPr sz="1800"/>
            </a:pPr>
            <a:r>
              <a:rPr sz="1600" b="1">
                <a:solidFill>
                  <a:schemeClr val="accent1"/>
                </a:solidFill>
              </a:rPr>
              <a:t>Together, these visuals highlight how prices, leases, and unit sizes evolve over time:</a:t>
            </a:r>
            <a:endParaRPr sz="1600" b="1">
              <a:solidFill>
                <a:schemeClr val="accent1"/>
              </a:solidFill>
            </a:endParaRPr>
          </a:p>
          <a:p>
            <a:pPr>
              <a:lnSpc>
                <a:spcPct val="90000"/>
              </a:lnSpc>
              <a:spcAft>
                <a:spcPts val="1000"/>
              </a:spcAft>
              <a:buFont typeface="Wingdings" panose="05000000000000000000" charset="0"/>
              <a:buChar char="o"/>
              <a:defRPr sz="1800"/>
            </a:pPr>
            <a:r>
              <a:rPr sz="1600" b="1"/>
              <a:t> Average resale price by transaction year: Explains price evolution and market cycles.</a:t>
            </a:r>
            <a:endParaRPr sz="1600" b="1"/>
          </a:p>
          <a:p>
            <a:pPr>
              <a:lnSpc>
                <a:spcPct val="90000"/>
              </a:lnSpc>
              <a:spcAft>
                <a:spcPts val="1000"/>
              </a:spcAft>
              <a:buFont typeface="Wingdings" panose="05000000000000000000" charset="0"/>
              <a:buChar char="o"/>
              <a:defRPr sz="1800"/>
            </a:pPr>
            <a:r>
              <a:rPr sz="1600" b="1"/>
              <a:t>Sum of remaining lease by transaction year: Shows lease age trends in transacted flats.</a:t>
            </a:r>
            <a:endParaRPr sz="1600" b="1"/>
          </a:p>
          <a:p>
            <a:pPr>
              <a:lnSpc>
                <a:spcPct val="90000"/>
              </a:lnSpc>
              <a:spcAft>
                <a:spcPts val="1000"/>
              </a:spcAft>
              <a:buFont typeface="Wingdings" panose="05000000000000000000" charset="0"/>
              <a:buChar char="o"/>
              <a:defRPr sz="1800"/>
            </a:pPr>
            <a:r>
              <a:rPr sz="1600" b="1"/>
              <a:t>Sum of floor area by transaction year: Reflects transaction volume and size trends</a:t>
            </a:r>
            <a:endParaRPr sz="1600" b="1"/>
          </a:p>
        </p:txBody>
      </p:sp>
      <p:sp>
        <p:nvSpPr>
          <p:cNvPr id="9" name="Flowchart: Punched Tape 8"/>
          <p:cNvSpPr/>
          <p:nvPr/>
        </p:nvSpPr>
        <p:spPr>
          <a:xfrm flipH="1" flipV="1">
            <a:off x="395605" y="0"/>
            <a:ext cx="4492625" cy="915035"/>
          </a:xfrm>
          <a:prstGeom prst="flowChartPunchedTape">
            <a:avLst/>
          </a:prstGeom>
          <a:gradFill rotWithShape="0">
            <a:gsLst>
              <a:gs pos="0">
                <a:schemeClr val="accent1">
                  <a:lumMod val="0"/>
                  <a:alpha val="0"/>
                  <a:lumOff val="10000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4" name="Picture 3"/>
          <p:cNvPicPr>
            <a:picLocks noChangeAspect="1"/>
          </p:cNvPicPr>
          <p:nvPr/>
        </p:nvPicPr>
        <p:blipFill>
          <a:blip r:embed="rId1"/>
          <a:srcRect l="356" b="4723"/>
          <a:stretch>
            <a:fillRect/>
          </a:stretch>
        </p:blipFill>
        <p:spPr>
          <a:xfrm>
            <a:off x="399415" y="820420"/>
            <a:ext cx="11143615" cy="4101465"/>
          </a:xfrm>
          <a:prstGeom prst="rect">
            <a:avLst/>
          </a:prstGeom>
        </p:spPr>
      </p:pic>
      <p:sp>
        <p:nvSpPr>
          <p:cNvPr id="11" name="Text Box 10"/>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11</a:t>
            </a:r>
            <a:endParaRPr lang="en-GB" altLang="en-US" b="1">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5865495" cy="582930"/>
          </a:xfrm>
        </p:spPr>
        <p:txBody>
          <a:bodyPr/>
          <a:lstStyle/>
          <a:p>
            <a:r>
              <a:t>Market Drivers</a:t>
            </a:r>
          </a:p>
        </p:txBody>
      </p:sp>
      <p:pic>
        <p:nvPicPr>
          <p:cNvPr id="4" name="Picture 3"/>
          <p:cNvPicPr>
            <a:picLocks noChangeAspect="1"/>
          </p:cNvPicPr>
          <p:nvPr/>
        </p:nvPicPr>
        <p:blipFill>
          <a:blip r:embed="rId1"/>
          <a:stretch>
            <a:fillRect/>
          </a:stretch>
        </p:blipFill>
        <p:spPr>
          <a:xfrm>
            <a:off x="535940" y="688975"/>
            <a:ext cx="10804525" cy="4745355"/>
          </a:xfrm>
          <a:prstGeom prst="rect">
            <a:avLst/>
          </a:prstGeom>
        </p:spPr>
      </p:pic>
      <p:sp>
        <p:nvSpPr>
          <p:cNvPr id="5" name="Flowchart: Punched Tape 4"/>
          <p:cNvSpPr/>
          <p:nvPr/>
        </p:nvSpPr>
        <p:spPr>
          <a:xfrm flipH="1" flipV="1">
            <a:off x="562610" y="0"/>
            <a:ext cx="3491865" cy="915035"/>
          </a:xfrm>
          <a:prstGeom prst="flowChartPunchedTape">
            <a:avLst/>
          </a:prstGeom>
          <a:gradFill rotWithShape="0">
            <a:gsLst>
              <a:gs pos="0">
                <a:schemeClr val="accent1">
                  <a:lumMod val="0"/>
                  <a:alpha val="0"/>
                  <a:lumOff val="10000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3" name="Content Placeholder 2"/>
          <p:cNvSpPr>
            <a:spLocks noGrp="1"/>
          </p:cNvSpPr>
          <p:nvPr>
            <p:ph idx="1"/>
          </p:nvPr>
        </p:nvSpPr>
        <p:spPr>
          <a:xfrm>
            <a:off x="951865" y="5595620"/>
            <a:ext cx="10018395" cy="1410970"/>
          </a:xfrm>
        </p:spPr>
        <p:txBody>
          <a:bodyPr/>
          <a:lstStyle/>
          <a:p>
            <a:pPr marL="0" indent="0">
              <a:lnSpc>
                <a:spcPct val="40000"/>
              </a:lnSpc>
              <a:spcAft>
                <a:spcPts val="1000"/>
              </a:spcAft>
              <a:buClr>
                <a:srgbClr val="00B0F0"/>
              </a:buClr>
              <a:buFont typeface="Wingdings" panose="05000000000000000000" charset="0"/>
              <a:buNone/>
              <a:defRPr sz="1800"/>
            </a:pPr>
            <a:r>
              <a:rPr sz="1600">
                <a:solidFill>
                  <a:schemeClr val="accent1"/>
                </a:solidFill>
              </a:rPr>
              <a:t>These visuals show the structural and lease factors that drive pricing differences:</a:t>
            </a:r>
            <a:endParaRPr sz="1600">
              <a:solidFill>
                <a:schemeClr val="accent1"/>
              </a:solidFill>
            </a:endParaRPr>
          </a:p>
          <a:p>
            <a:pPr>
              <a:lnSpc>
                <a:spcPct val="40000"/>
              </a:lnSpc>
              <a:spcAft>
                <a:spcPts val="1000"/>
              </a:spcAft>
              <a:buClr>
                <a:srgbClr val="00B0F0"/>
              </a:buClr>
              <a:buFont typeface="Wingdings" panose="05000000000000000000" charset="0"/>
              <a:buChar char="q"/>
              <a:defRPr sz="1800"/>
            </a:pPr>
            <a:r>
              <a:rPr sz="1600"/>
              <a:t>Average price per sqm by flat type: Smaller flats often have higher price per sqm due to efficiency.</a:t>
            </a:r>
            <a:endParaRPr sz="1600"/>
          </a:p>
          <a:p>
            <a:pPr>
              <a:lnSpc>
                <a:spcPct val="40000"/>
              </a:lnSpc>
              <a:spcAft>
                <a:spcPts val="1000"/>
              </a:spcAft>
              <a:buClr>
                <a:srgbClr val="00B0F0"/>
              </a:buClr>
              <a:buFont typeface="Wingdings" panose="05000000000000000000" charset="0"/>
              <a:buChar char="q"/>
              <a:defRPr sz="1800"/>
            </a:pPr>
            <a:r>
              <a:rPr sz="1600"/>
              <a:t>Average resale price by storey bucket: Mid-storey flats are often more desirable.</a:t>
            </a:r>
            <a:endParaRPr sz="1600"/>
          </a:p>
          <a:p>
            <a:pPr>
              <a:lnSpc>
                <a:spcPct val="40000"/>
              </a:lnSpc>
              <a:spcAft>
                <a:spcPts val="1000"/>
              </a:spcAft>
              <a:buClr>
                <a:srgbClr val="00B0F0"/>
              </a:buClr>
              <a:buFont typeface="Wingdings" panose="05000000000000000000" charset="0"/>
              <a:buChar char="q"/>
              <a:defRPr sz="1800"/>
            </a:pPr>
            <a:r>
              <a:rPr sz="1600"/>
              <a:t>Average price per sqm by lease bucket: Mid-age leases may offer optimal value.</a:t>
            </a:r>
            <a:endParaRPr sz="1600"/>
          </a:p>
          <a:p>
            <a:pPr>
              <a:lnSpc>
                <a:spcPct val="40000"/>
              </a:lnSpc>
              <a:spcAft>
                <a:spcPts val="1000"/>
              </a:spcAft>
              <a:buClr>
                <a:srgbClr val="00B0F0"/>
              </a:buClr>
              <a:buFont typeface="Wingdings" panose="05000000000000000000" charset="0"/>
              <a:buChar char="q"/>
              <a:defRPr sz="1800"/>
            </a:pPr>
            <a:r>
              <a:rPr sz="1600"/>
              <a:t>Sum of lease age by flat model: Indicates aging stock and model distribution.</a:t>
            </a:r>
            <a:endParaRPr sz="1600"/>
          </a:p>
        </p:txBody>
      </p:sp>
      <p:sp>
        <p:nvSpPr>
          <p:cNvPr id="11" name="Text Box 10"/>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12</a:t>
            </a:r>
            <a:endParaRPr lang="en-GB" altLang="en-US" b="1">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489585" y="955040"/>
            <a:ext cx="10714990" cy="4530090"/>
          </a:xfrm>
          <a:prstGeom prst="rect">
            <a:avLst/>
          </a:prstGeom>
        </p:spPr>
      </p:pic>
      <p:sp>
        <p:nvSpPr>
          <p:cNvPr id="2" name="Title 1"/>
          <p:cNvSpPr>
            <a:spLocks noGrp="1"/>
          </p:cNvSpPr>
          <p:nvPr>
            <p:ph type="title"/>
          </p:nvPr>
        </p:nvSpPr>
        <p:spPr/>
        <p:txBody>
          <a:bodyPr/>
          <a:lstStyle/>
          <a:p>
            <a:r>
              <a:rPr b="1">
                <a:highlight>
                  <a:srgbClr val="00FFFF"/>
                </a:highlight>
              </a:rPr>
              <a:t>Location Insights</a:t>
            </a:r>
            <a:endParaRPr b="1">
              <a:highlight>
                <a:srgbClr val="00FFFF"/>
              </a:highlight>
            </a:endParaRPr>
          </a:p>
        </p:txBody>
      </p:sp>
      <p:sp>
        <p:nvSpPr>
          <p:cNvPr id="5" name="Flowchart: Punched Tape 4"/>
          <p:cNvSpPr/>
          <p:nvPr/>
        </p:nvSpPr>
        <p:spPr>
          <a:xfrm flipH="1" flipV="1">
            <a:off x="486410" y="0"/>
            <a:ext cx="4081780" cy="915035"/>
          </a:xfrm>
          <a:prstGeom prst="flowChartPunchedTape">
            <a:avLst/>
          </a:prstGeom>
          <a:gradFill rotWithShape="0">
            <a:gsLst>
              <a:gs pos="0">
                <a:schemeClr val="accent1">
                  <a:lumMod val="0"/>
                  <a:alpha val="0"/>
                  <a:lumOff val="10000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1" name="Text Box 10"/>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13</a:t>
            </a:r>
            <a:endParaRPr lang="en-GB" altLang="en-US" b="1">
              <a:solidFill>
                <a:schemeClr val="bg1"/>
              </a:solidFill>
            </a:endParaRPr>
          </a:p>
        </p:txBody>
      </p:sp>
      <p:sp>
        <p:nvSpPr>
          <p:cNvPr id="7" name="Content Placeholder 2"/>
          <p:cNvSpPr>
            <a:spLocks noGrp="1"/>
          </p:cNvSpPr>
          <p:nvPr/>
        </p:nvSpPr>
        <p:spPr>
          <a:xfrm>
            <a:off x="609600" y="5540375"/>
            <a:ext cx="10182225" cy="111379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buClr>
                <a:srgbClr val="FF0000"/>
              </a:buClr>
              <a:buFont typeface="Wingdings" panose="05000000000000000000" charset="0"/>
              <a:buChar char="q"/>
            </a:pPr>
            <a:r>
              <a:rPr sz="1600"/>
              <a:t>Town-Level Map: Shows geographic pricing, lease age, and transaction activity.</a:t>
            </a:r>
            <a:endParaRPr sz="1600"/>
          </a:p>
          <a:p>
            <a:pPr>
              <a:buClr>
                <a:srgbClr val="FF0000"/>
              </a:buClr>
              <a:buFont typeface="Wingdings" panose="05000000000000000000" charset="0"/>
              <a:buChar char="q"/>
            </a:pPr>
            <a:r>
              <a:rPr sz="1600"/>
              <a:t>Resale Price by Town: BUKIT TIMAH, BISHAN, and CENTRAL AREA command highest premiums.</a:t>
            </a:r>
            <a:endParaRPr sz="1600"/>
          </a:p>
          <a:p>
            <a:pPr>
              <a:buClr>
                <a:srgbClr val="FF0000"/>
              </a:buClr>
              <a:buFont typeface="Wingdings" panose="05000000000000000000" charset="0"/>
              <a:buChar char="q"/>
            </a:pPr>
            <a:r>
              <a:rPr sz="1600"/>
              <a:t>Fringe towns remain more affordable, offering opportunities for first-time buyers.</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8341360" cy="582930"/>
          </a:xfrm>
        </p:spPr>
        <p:txBody>
          <a:bodyPr/>
          <a:lstStyle/>
          <a:p>
            <a:r>
              <a:rPr b="1">
                <a:solidFill>
                  <a:schemeClr val="accent2">
                    <a:lumMod val="60000"/>
                    <a:lumOff val="40000"/>
                  </a:schemeClr>
                </a:solidFill>
              </a:rPr>
              <a:t>Inventory &amp; Mix</a:t>
            </a:r>
            <a:endParaRPr b="1">
              <a:solidFill>
                <a:schemeClr val="accent2">
                  <a:lumMod val="60000"/>
                  <a:lumOff val="40000"/>
                </a:schemeClr>
              </a:solidFill>
            </a:endParaRPr>
          </a:p>
        </p:txBody>
      </p:sp>
      <p:sp>
        <p:nvSpPr>
          <p:cNvPr id="3" name="Content Placeholder 2"/>
          <p:cNvSpPr>
            <a:spLocks noGrp="1"/>
          </p:cNvSpPr>
          <p:nvPr>
            <p:ph idx="1"/>
          </p:nvPr>
        </p:nvSpPr>
        <p:spPr>
          <a:xfrm>
            <a:off x="323850" y="4289425"/>
            <a:ext cx="10968990" cy="2447290"/>
          </a:xfrm>
        </p:spPr>
        <p:txBody>
          <a:bodyPr/>
          <a:lstStyle/>
          <a:p>
            <a:pPr marL="0" indent="0">
              <a:lnSpc>
                <a:spcPct val="80000"/>
              </a:lnSpc>
              <a:spcBef>
                <a:spcPts val="20"/>
              </a:spcBef>
              <a:spcAft>
                <a:spcPts val="0"/>
              </a:spcAft>
              <a:buClr>
                <a:srgbClr val="F07F09"/>
              </a:buClr>
              <a:buFont typeface="Wingdings" panose="05000000000000000000" charset="0"/>
              <a:buNone/>
              <a:defRPr sz="1800"/>
            </a:pPr>
            <a:r>
              <a:rPr sz="1400"/>
              <a:t>These visuals reveal the composition of housing stock and how it influences supply and demand:</a:t>
            </a:r>
            <a:endParaRPr sz="1400"/>
          </a:p>
          <a:p>
            <a:pPr>
              <a:lnSpc>
                <a:spcPct val="110000"/>
              </a:lnSpc>
              <a:spcBef>
                <a:spcPts val="20"/>
              </a:spcBef>
              <a:spcAft>
                <a:spcPts val="0"/>
              </a:spcAft>
              <a:buClr>
                <a:srgbClr val="F07F09"/>
              </a:buClr>
              <a:buFont typeface="Wingdings" panose="05000000000000000000" charset="0"/>
              <a:buChar char="q"/>
              <a:defRPr sz="1800"/>
            </a:pPr>
            <a:r>
              <a:rPr lang="en-US" altLang="en-GB" sz="1400"/>
              <a:t>High-value towns like CENTRAL AREA, BUKIT TIMAH, and QUEENSTOWN show consistently higher price per sqm across all flat types.</a:t>
            </a:r>
            <a:r>
              <a:rPr lang="en-GB" altLang="en-US" sz="1400"/>
              <a:t> </a:t>
            </a:r>
            <a:r>
              <a:rPr lang="en-US" altLang="en-GB" sz="1400"/>
              <a:t>Flat types like 3 ROOM and 4 ROOM often show higher price per sqm than larger types, especially in central towns.</a:t>
            </a:r>
            <a:r>
              <a:rPr sz="1400"/>
              <a:t>Sum of floor area by transaction year: Indicates transaction volume trends.</a:t>
            </a:r>
            <a:endParaRPr sz="1400"/>
          </a:p>
          <a:p>
            <a:pPr>
              <a:lnSpc>
                <a:spcPct val="110000"/>
              </a:lnSpc>
              <a:spcBef>
                <a:spcPts val="20"/>
              </a:spcBef>
              <a:spcAft>
                <a:spcPts val="0"/>
              </a:spcAft>
              <a:buClr>
                <a:srgbClr val="F07F09"/>
              </a:buClr>
              <a:buFont typeface="Wingdings" panose="05000000000000000000" charset="0"/>
              <a:buChar char="q"/>
              <a:defRPr sz="1800"/>
            </a:pPr>
            <a:r>
              <a:rPr lang="en-US" altLang="en-GB" sz="1400"/>
              <a:t>2017 and 2018 had the highest total floor area transacted (~2.32M sqm), indicating peak market activity.</a:t>
            </a:r>
            <a:r>
              <a:rPr lang="en-GB" altLang="en-US" sz="1400"/>
              <a:t> </a:t>
            </a:r>
            <a:r>
              <a:rPr lang="en-US" altLang="en-GB" sz="1400"/>
              <a:t>2019 shows a sharp drop, suggesting a slowdown in large flat transactions or overall volume.</a:t>
            </a:r>
            <a:endParaRPr lang="en-US" altLang="en-GB" sz="1400"/>
          </a:p>
          <a:p>
            <a:pPr>
              <a:lnSpc>
                <a:spcPct val="110000"/>
              </a:lnSpc>
              <a:spcBef>
                <a:spcPts val="20"/>
              </a:spcBef>
              <a:spcAft>
                <a:spcPts val="0"/>
              </a:spcAft>
              <a:buClr>
                <a:srgbClr val="F07F09"/>
              </a:buClr>
              <a:buFont typeface="Wingdings" panose="05000000000000000000" charset="0"/>
              <a:buChar char="q"/>
              <a:defRPr sz="1800"/>
            </a:pPr>
            <a:r>
              <a:rPr lang="en-US" altLang="en-GB" sz="1400"/>
              <a:t>Mid-age flats show the highest price per sqm, followed by New and Healthy.</a:t>
            </a:r>
            <a:r>
              <a:rPr lang="en-GB" altLang="en-US" sz="1400"/>
              <a:t> </a:t>
            </a:r>
            <a:r>
              <a:rPr lang="en-US" altLang="en-GB" sz="1400"/>
              <a:t>Unknown lease bucket has the lowest price per sqm, likely due to data gaps or older stock.</a:t>
            </a:r>
            <a:endParaRPr lang="en-US" altLang="en-GB" sz="1400"/>
          </a:p>
          <a:p>
            <a:pPr>
              <a:lnSpc>
                <a:spcPct val="110000"/>
              </a:lnSpc>
              <a:spcBef>
                <a:spcPts val="20"/>
              </a:spcBef>
              <a:spcAft>
                <a:spcPts val="0"/>
              </a:spcAft>
              <a:buClr>
                <a:srgbClr val="F07F09"/>
              </a:buClr>
              <a:buFont typeface="Wingdings" panose="05000000000000000000" charset="0"/>
              <a:buChar char="q"/>
              <a:defRPr sz="1800"/>
            </a:pPr>
            <a:r>
              <a:rPr lang="en-US" altLang="en-GB" sz="1400"/>
              <a:t>Most data points cluster around 100 years, showing that newer flats dominate high resale prices.</a:t>
            </a:r>
            <a:r>
              <a:rPr lang="en-GB" altLang="en-US" sz="1400"/>
              <a:t> </a:t>
            </a:r>
            <a:r>
              <a:rPr lang="en-US" altLang="en-GB" sz="1400"/>
              <a:t>As remaining lease decreases, resale price tends to drop — though not always linearly</a:t>
            </a:r>
            <a:endParaRPr lang="en-US" altLang="en-GB" sz="1400"/>
          </a:p>
        </p:txBody>
      </p:sp>
      <p:sp>
        <p:nvSpPr>
          <p:cNvPr id="5" name="Flowchart: Punched Tape 4"/>
          <p:cNvSpPr/>
          <p:nvPr/>
        </p:nvSpPr>
        <p:spPr>
          <a:xfrm flipH="1" flipV="1">
            <a:off x="486410" y="0"/>
            <a:ext cx="4081780" cy="915035"/>
          </a:xfrm>
          <a:prstGeom prst="flowChartPunchedTape">
            <a:avLst/>
          </a:prstGeom>
          <a:gradFill rotWithShape="0">
            <a:gsLst>
              <a:gs pos="0">
                <a:schemeClr val="accent1">
                  <a:lumMod val="0"/>
                  <a:alpha val="0"/>
                  <a:lumOff val="10000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4" name="Picture 3"/>
          <p:cNvPicPr>
            <a:picLocks noChangeAspect="1"/>
          </p:cNvPicPr>
          <p:nvPr/>
        </p:nvPicPr>
        <p:blipFill>
          <a:blip r:embed="rId1"/>
          <a:stretch>
            <a:fillRect/>
          </a:stretch>
        </p:blipFill>
        <p:spPr>
          <a:xfrm>
            <a:off x="473710" y="906780"/>
            <a:ext cx="9926320" cy="3249295"/>
          </a:xfrm>
          <a:prstGeom prst="rect">
            <a:avLst/>
          </a:prstGeom>
        </p:spPr>
      </p:pic>
      <p:sp>
        <p:nvSpPr>
          <p:cNvPr id="11" name="Text Box 10"/>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14</a:t>
            </a:r>
            <a:endParaRPr lang="en-GB" altLang="en-US" b="1">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Flowchart: Punched Tape 8"/>
          <p:cNvSpPr/>
          <p:nvPr/>
        </p:nvSpPr>
        <p:spPr>
          <a:xfrm flipH="1">
            <a:off x="0" y="245745"/>
            <a:ext cx="12188825" cy="6857365"/>
          </a:xfrm>
          <a:prstGeom prst="flowChartPunchedTape">
            <a:avLst/>
          </a:prstGeom>
          <a:gradFill rotWithShape="0">
            <a:gsLst>
              <a:gs pos="0">
                <a:schemeClr val="accent1">
                  <a:lumMod val="0"/>
                  <a:alpha val="0"/>
                  <a:lumOff val="10000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accent3">
                  <a:lumMod val="40000"/>
                  <a:lumOff val="60000"/>
                </a:schemeClr>
              </a:solidFill>
              <a:effectLst/>
              <a:latin typeface="Arial" panose="020B0604020202020204" pitchFamily="34" charset="0"/>
              <a:ea typeface="SimSun" panose="02010600030101010101" pitchFamily="2" charset="-122"/>
            </a:endParaRPr>
          </a:p>
        </p:txBody>
      </p:sp>
      <p:sp>
        <p:nvSpPr>
          <p:cNvPr id="2" name="Title 1"/>
          <p:cNvSpPr>
            <a:spLocks noGrp="1"/>
          </p:cNvSpPr>
          <p:nvPr>
            <p:ph type="title"/>
          </p:nvPr>
        </p:nvSpPr>
        <p:spPr/>
        <p:txBody>
          <a:bodyPr/>
          <a:p>
            <a:r>
              <a:rPr lang="en-US" altLang="en-GB" b="1">
                <a:highlight>
                  <a:srgbClr val="FF0000"/>
                </a:highlight>
                <a:sym typeface="+mn-ea"/>
              </a:rPr>
              <a:t>Key Findings</a:t>
            </a:r>
            <a:endParaRPr lang="en-US" altLang="en-GB" b="1">
              <a:highlight>
                <a:srgbClr val="FF0000"/>
              </a:highlight>
              <a:sym typeface="+mn-ea"/>
            </a:endParaRPr>
          </a:p>
        </p:txBody>
      </p:sp>
      <p:sp>
        <p:nvSpPr>
          <p:cNvPr id="3" name="Content Placeholder 2"/>
          <p:cNvSpPr>
            <a:spLocks noGrp="1"/>
          </p:cNvSpPr>
          <p:nvPr>
            <p:ph idx="1"/>
          </p:nvPr>
        </p:nvSpPr>
        <p:spPr>
          <a:xfrm>
            <a:off x="971550" y="984250"/>
            <a:ext cx="9636760" cy="4419600"/>
          </a:xfrm>
        </p:spPr>
        <p:txBody>
          <a:bodyPr/>
          <a:p>
            <a:pPr marL="697230" indent="-697230">
              <a:lnSpc>
                <a:spcPct val="150000"/>
              </a:lnSpc>
              <a:buFont typeface="Wingdings" panose="05000000000000000000" charset="0"/>
              <a:buChar char="v"/>
            </a:pPr>
            <a:r>
              <a:rPr lang="en-US" altLang="en-GB">
                <a:ln>
                  <a:noFill/>
                </a:ln>
                <a:solidFill>
                  <a:schemeClr val="tx1"/>
                </a:solidFill>
              </a:rPr>
              <a:t>Resale prices rising but cyclical</a:t>
            </a:r>
            <a:endParaRPr lang="en-US" altLang="en-GB">
              <a:ln>
                <a:noFill/>
              </a:ln>
              <a:solidFill>
                <a:schemeClr val="tx1"/>
              </a:solidFill>
            </a:endParaRPr>
          </a:p>
          <a:p>
            <a:pPr marL="697230" indent="-697230">
              <a:lnSpc>
                <a:spcPct val="150000"/>
              </a:lnSpc>
              <a:buFont typeface="Wingdings" panose="05000000000000000000" charset="0"/>
              <a:buChar char="v"/>
            </a:pPr>
            <a:r>
              <a:rPr lang="en-US" altLang="en-GB">
                <a:ln>
                  <a:noFill/>
                </a:ln>
                <a:solidFill>
                  <a:schemeClr val="tx1"/>
                </a:solidFill>
              </a:rPr>
              <a:t>Aging stock prevalent in common models</a:t>
            </a:r>
            <a:endParaRPr lang="en-US" altLang="en-GB">
              <a:ln>
                <a:noFill/>
              </a:ln>
              <a:solidFill>
                <a:schemeClr val="tx1"/>
              </a:solidFill>
            </a:endParaRPr>
          </a:p>
          <a:p>
            <a:pPr marL="697230" indent="-697230">
              <a:lnSpc>
                <a:spcPct val="150000"/>
              </a:lnSpc>
              <a:buFont typeface="Wingdings" panose="05000000000000000000" charset="0"/>
              <a:buChar char="v"/>
            </a:pPr>
            <a:r>
              <a:rPr lang="en-US" altLang="en-GB">
                <a:ln>
                  <a:noFill/>
                </a:ln>
                <a:solidFill>
                  <a:schemeClr val="tx1"/>
                </a:solidFill>
              </a:rPr>
              <a:t>Central towns command premiums</a:t>
            </a:r>
            <a:endParaRPr lang="en-US" altLang="en-GB">
              <a:ln>
                <a:noFill/>
              </a:ln>
              <a:solidFill>
                <a:schemeClr val="tx1"/>
              </a:solidFill>
            </a:endParaRPr>
          </a:p>
          <a:p>
            <a:pPr marL="697230" indent="-697230">
              <a:lnSpc>
                <a:spcPct val="150000"/>
              </a:lnSpc>
              <a:buFont typeface="Wingdings" panose="05000000000000000000" charset="0"/>
              <a:buChar char="v"/>
            </a:pPr>
            <a:r>
              <a:rPr lang="en-US" altLang="en-GB">
                <a:ln>
                  <a:noFill/>
                </a:ln>
                <a:solidFill>
                  <a:schemeClr val="tx1"/>
                </a:solidFill>
              </a:rPr>
              <a:t>Compact living trend evident</a:t>
            </a:r>
            <a:endParaRPr lang="en-US" altLang="en-GB">
              <a:ln>
                <a:noFill/>
              </a:ln>
              <a:solidFill>
                <a:schemeClr val="tx1"/>
              </a:solidFill>
            </a:endParaRPr>
          </a:p>
          <a:p>
            <a:pPr marL="697230" indent="-697230">
              <a:lnSpc>
                <a:spcPct val="150000"/>
              </a:lnSpc>
              <a:buFont typeface="Wingdings" panose="05000000000000000000" charset="0"/>
              <a:buChar char="v"/>
            </a:pPr>
            <a:r>
              <a:rPr lang="en-US" altLang="en-GB">
                <a:ln>
                  <a:noFill/>
                </a:ln>
                <a:solidFill>
                  <a:schemeClr val="tx1"/>
                </a:solidFill>
              </a:rPr>
              <a:t>Lease length strongly influences value</a:t>
            </a:r>
            <a:endParaRPr lang="en-US" altLang="en-GB">
              <a:ln>
                <a:noFill/>
              </a:ln>
              <a:solidFill>
                <a:schemeClr val="tx1"/>
              </a:solidFill>
            </a:endParaRPr>
          </a:p>
        </p:txBody>
      </p:sp>
      <p:sp>
        <p:nvSpPr>
          <p:cNvPr id="11" name="Text Box 10"/>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15</a:t>
            </a:r>
            <a:endParaRPr lang="en-GB" altLang="en-US" b="1">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5282565" cy="582930"/>
          </a:xfrm>
        </p:spPr>
        <p:txBody>
          <a:bodyPr/>
          <a:p>
            <a:r>
              <a:rPr lang="en-GB" altLang="en-US" sz="3200" b="1">
                <a:highlight>
                  <a:srgbClr val="FF0000"/>
                </a:highlight>
                <a:sym typeface="+mn-ea"/>
              </a:rPr>
              <a:t>Discussion of </a:t>
            </a:r>
            <a:r>
              <a:rPr lang="en-US" altLang="en-GB" sz="3200" b="1">
                <a:highlight>
                  <a:srgbClr val="FF0000"/>
                </a:highlight>
                <a:sym typeface="+mn-ea"/>
              </a:rPr>
              <a:t>Findings</a:t>
            </a:r>
            <a:endParaRPr lang="en-US" altLang="en-GB" sz="3200" b="1">
              <a:highlight>
                <a:srgbClr val="FF0000"/>
              </a:highlight>
              <a:sym typeface="+mn-ea"/>
            </a:endParaRPr>
          </a:p>
        </p:txBody>
      </p:sp>
      <p:sp>
        <p:nvSpPr>
          <p:cNvPr id="3" name="Content Placeholder 2"/>
          <p:cNvSpPr>
            <a:spLocks noGrp="1"/>
          </p:cNvSpPr>
          <p:nvPr>
            <p:ph idx="1"/>
          </p:nvPr>
        </p:nvSpPr>
        <p:spPr>
          <a:xfrm>
            <a:off x="609600" y="1176655"/>
            <a:ext cx="4937760" cy="2476500"/>
          </a:xfrm>
        </p:spPr>
        <p:txBody>
          <a:bodyPr/>
          <a:p>
            <a:pPr marL="267970" indent="-267970">
              <a:lnSpc>
                <a:spcPct val="120000"/>
              </a:lnSpc>
              <a:buFont typeface="Wingdings" panose="05000000000000000000" charset="0"/>
              <a:buChar char="v"/>
            </a:pPr>
            <a:r>
              <a:rPr lang="en-US" altLang="en-GB" sz="1500" b="1">
                <a:ln>
                  <a:noFill/>
                </a:ln>
                <a:solidFill>
                  <a:schemeClr val="tx1"/>
                </a:solidFill>
              </a:rPr>
              <a:t>Average Resale Price – affordability snapshot</a:t>
            </a:r>
            <a:endParaRPr lang="en-US" altLang="en-GB" sz="1500" b="1">
              <a:ln>
                <a:noFill/>
              </a:ln>
              <a:solidFill>
                <a:schemeClr val="tx1"/>
              </a:solidFill>
            </a:endParaRPr>
          </a:p>
          <a:p>
            <a:pPr marL="267970" indent="-267970">
              <a:lnSpc>
                <a:spcPct val="120000"/>
              </a:lnSpc>
              <a:buFont typeface="Wingdings" panose="05000000000000000000" charset="0"/>
              <a:buChar char="v"/>
            </a:pPr>
            <a:r>
              <a:rPr lang="en-US" altLang="en-GB" sz="1500" b="1">
                <a:ln>
                  <a:noFill/>
                </a:ln>
                <a:solidFill>
                  <a:schemeClr val="tx1"/>
                </a:solidFill>
              </a:rPr>
              <a:t>Average Price per sqm – normalized value across sizes</a:t>
            </a:r>
            <a:endParaRPr lang="en-US" altLang="en-GB" sz="1500" b="1">
              <a:ln>
                <a:noFill/>
              </a:ln>
              <a:solidFill>
                <a:schemeClr val="tx1"/>
              </a:solidFill>
            </a:endParaRPr>
          </a:p>
          <a:p>
            <a:pPr marL="267970" indent="-267970">
              <a:lnSpc>
                <a:spcPct val="120000"/>
              </a:lnSpc>
              <a:buFont typeface="Wingdings" panose="05000000000000000000" charset="0"/>
              <a:buChar char="v"/>
            </a:pPr>
            <a:r>
              <a:rPr lang="en-US" altLang="en-GB" sz="1500" b="1">
                <a:ln>
                  <a:noFill/>
                </a:ln>
                <a:solidFill>
                  <a:schemeClr val="tx1"/>
                </a:solidFill>
              </a:rPr>
              <a:t>Average Lease – housing stock age</a:t>
            </a:r>
            <a:endParaRPr lang="en-US" altLang="en-GB" sz="1500" b="1">
              <a:ln>
                <a:noFill/>
              </a:ln>
              <a:solidFill>
                <a:schemeClr val="tx1"/>
              </a:solidFill>
            </a:endParaRPr>
          </a:p>
          <a:p>
            <a:pPr marL="267970" indent="-267970">
              <a:lnSpc>
                <a:spcPct val="120000"/>
              </a:lnSpc>
              <a:buFont typeface="Wingdings" panose="05000000000000000000" charset="0"/>
              <a:buChar char="v"/>
            </a:pPr>
            <a:r>
              <a:rPr lang="en-US" altLang="en-GB" sz="1500" b="1">
                <a:ln>
                  <a:noFill/>
                </a:ln>
                <a:solidFill>
                  <a:schemeClr val="tx1"/>
                </a:solidFill>
              </a:rPr>
              <a:t>Total Transactions – market activity</a:t>
            </a:r>
            <a:endParaRPr lang="en-US" altLang="en-GB" sz="1500" b="1">
              <a:ln>
                <a:noFill/>
              </a:ln>
              <a:solidFill>
                <a:schemeClr val="tx1"/>
              </a:solidFill>
            </a:endParaRPr>
          </a:p>
          <a:p>
            <a:pPr marL="267970" indent="-267970">
              <a:lnSpc>
                <a:spcPct val="120000"/>
              </a:lnSpc>
              <a:buFont typeface="Wingdings" panose="05000000000000000000" charset="0"/>
              <a:buChar char="v"/>
            </a:pPr>
            <a:r>
              <a:rPr lang="en-US" altLang="en-GB" sz="1500" b="1">
                <a:ln>
                  <a:noFill/>
                </a:ln>
                <a:solidFill>
                  <a:schemeClr val="tx1"/>
                </a:solidFill>
              </a:rPr>
              <a:t>Average Floor Area – typical unit size</a:t>
            </a:r>
            <a:endParaRPr lang="en-US" altLang="en-GB" sz="1500" b="1">
              <a:ln>
                <a:noFill/>
              </a:ln>
              <a:solidFill>
                <a:schemeClr val="tx1"/>
              </a:solidFill>
            </a:endParaRPr>
          </a:p>
          <a:p>
            <a:pPr marL="0" indent="0">
              <a:lnSpc>
                <a:spcPct val="120000"/>
              </a:lnSpc>
              <a:buFont typeface="Wingdings" panose="05000000000000000000" charset="0"/>
              <a:buNone/>
            </a:pPr>
            <a:r>
              <a:rPr lang="en-GB" altLang="en-US" sz="1500" b="1">
                <a:ln>
                  <a:noFill/>
                </a:ln>
                <a:solidFill>
                  <a:schemeClr val="tx1"/>
                </a:solidFill>
              </a:rPr>
              <a:t>It functionally promote </a:t>
            </a:r>
            <a:r>
              <a:rPr lang="en-US" altLang="en-GB" sz="1500" b="1">
                <a:ln>
                  <a:noFill/>
                </a:ln>
                <a:solidFill>
                  <a:schemeClr val="tx1"/>
                </a:solidFill>
              </a:rPr>
              <a:t>affordability, demand, and housing stock characteristics.</a:t>
            </a:r>
            <a:endParaRPr lang="en-US" altLang="en-GB" sz="1500" b="1">
              <a:ln>
                <a:noFill/>
              </a:ln>
              <a:solidFill>
                <a:schemeClr val="tx1"/>
              </a:solidFill>
            </a:endParaRPr>
          </a:p>
        </p:txBody>
      </p:sp>
      <p:sp>
        <p:nvSpPr>
          <p:cNvPr id="5" name="Content Placeholder 2"/>
          <p:cNvSpPr>
            <a:spLocks noGrp="1"/>
          </p:cNvSpPr>
          <p:nvPr/>
        </p:nvSpPr>
        <p:spPr>
          <a:xfrm>
            <a:off x="533400" y="3921760"/>
            <a:ext cx="5302250" cy="2828925"/>
          </a:xfrm>
          <a:prstGeom prst="rect">
            <a:avLst/>
          </a:prstGeom>
          <a:noFill/>
          <a:ln w="9525">
            <a:noFill/>
          </a:ln>
        </p:spPr>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7970" indent="-267970">
              <a:lnSpc>
                <a:spcPct val="120000"/>
              </a:lnSpc>
              <a:buFont typeface="Wingdings" panose="05000000000000000000" charset="0"/>
              <a:buChar char="v"/>
            </a:pPr>
            <a:r>
              <a:rPr lang="en-US" altLang="en-GB" sz="1500" b="1">
                <a:ln>
                  <a:noFill/>
                </a:ln>
                <a:solidFill>
                  <a:schemeClr val="tx1"/>
                </a:solidFill>
              </a:rPr>
              <a:t>Resale Price by Year – cyclical behavior, peak in 2013 then correction</a:t>
            </a:r>
            <a:endParaRPr lang="en-US" altLang="en-GB" sz="1500" b="1">
              <a:ln>
                <a:noFill/>
              </a:ln>
              <a:solidFill>
                <a:schemeClr val="tx1"/>
              </a:solidFill>
            </a:endParaRPr>
          </a:p>
          <a:p>
            <a:pPr marL="267970" indent="-267970">
              <a:lnSpc>
                <a:spcPct val="120000"/>
              </a:lnSpc>
              <a:buFont typeface="Wingdings" panose="05000000000000000000" charset="0"/>
              <a:buChar char="v"/>
            </a:pPr>
            <a:r>
              <a:rPr lang="en-US" altLang="en-GB" sz="1500" b="1">
                <a:ln>
                  <a:noFill/>
                </a:ln>
                <a:solidFill>
                  <a:schemeClr val="tx1"/>
                </a:solidFill>
              </a:rPr>
              <a:t>Remaining Lease by Year – fluctuations show buyer preference shifts</a:t>
            </a:r>
            <a:endParaRPr lang="en-US" altLang="en-GB" sz="1500" b="1">
              <a:ln>
                <a:noFill/>
              </a:ln>
              <a:solidFill>
                <a:schemeClr val="tx1"/>
              </a:solidFill>
            </a:endParaRPr>
          </a:p>
          <a:p>
            <a:pPr marL="267970" indent="-267970">
              <a:lnSpc>
                <a:spcPct val="120000"/>
              </a:lnSpc>
              <a:buFont typeface="Wingdings" panose="05000000000000000000" charset="0"/>
              <a:buChar char="v"/>
            </a:pPr>
            <a:r>
              <a:rPr lang="en-US" altLang="en-GB" sz="1500" b="1">
                <a:ln>
                  <a:noFill/>
                </a:ln>
                <a:solidFill>
                  <a:schemeClr val="tx1"/>
                </a:solidFill>
              </a:rPr>
              <a:t>Floor Area by Year – decline shows compact living trend</a:t>
            </a:r>
            <a:endParaRPr lang="en-US" altLang="en-GB" sz="1500" b="1">
              <a:ln>
                <a:noFill/>
              </a:ln>
              <a:solidFill>
                <a:schemeClr val="tx1"/>
              </a:solidFill>
            </a:endParaRPr>
          </a:p>
          <a:p>
            <a:pPr marL="267970" indent="-267970">
              <a:lnSpc>
                <a:spcPct val="120000"/>
              </a:lnSpc>
              <a:buFont typeface="Wingdings" panose="05000000000000000000" charset="0"/>
              <a:buChar char="v"/>
            </a:pPr>
            <a:r>
              <a:rPr lang="zh-CN" altLang="en-US" sz="1500" b="1">
                <a:ln>
                  <a:noFill/>
                </a:ln>
                <a:solidFill>
                  <a:schemeClr val="tx1"/>
                </a:solidFill>
              </a:rPr>
              <a:t>👉</a:t>
            </a:r>
            <a:r>
              <a:rPr lang="en-US" altLang="en-GB" sz="1500" b="1">
                <a:ln>
                  <a:noFill/>
                </a:ln>
                <a:solidFill>
                  <a:schemeClr val="tx1"/>
                </a:solidFill>
              </a:rPr>
              <a:t> Storytelling: “Together, these visuals highlight how prices, leases, and unit sizes evolve over time.”</a:t>
            </a:r>
            <a:r>
              <a:rPr lang="en-US" altLang="en-GB" sz="1500" b="1">
                <a:ln>
                  <a:noFill/>
                </a:ln>
                <a:solidFill>
                  <a:schemeClr val="tx1"/>
                </a:solidFill>
              </a:rPr>
              <a:t>.</a:t>
            </a:r>
            <a:endParaRPr lang="en-US" altLang="en-GB" sz="1500" b="1">
              <a:ln>
                <a:noFill/>
              </a:ln>
              <a:solidFill>
                <a:schemeClr val="tx1"/>
              </a:solidFill>
            </a:endParaRPr>
          </a:p>
        </p:txBody>
      </p:sp>
      <p:sp>
        <p:nvSpPr>
          <p:cNvPr id="6" name="Title 1"/>
          <p:cNvSpPr>
            <a:spLocks noGrp="1"/>
          </p:cNvSpPr>
          <p:nvPr/>
        </p:nvSpPr>
        <p:spPr>
          <a:xfrm>
            <a:off x="629285" y="856615"/>
            <a:ext cx="5282565" cy="320040"/>
          </a:xfrm>
          <a:prstGeom prst="rect">
            <a:avLst/>
          </a:prstGeom>
          <a:solidFill>
            <a:schemeClr val="accent2">
              <a:lumMod val="60000"/>
              <a:lumOff val="40000"/>
            </a:schemeClr>
          </a:solid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en-GB" sz="1400" b="1">
                <a:solidFill>
                  <a:schemeClr val="bg1"/>
                </a:solidFill>
                <a:highlight>
                  <a:srgbClr val="FF0000"/>
                </a:highlight>
                <a:sym typeface="+mn-ea"/>
              </a:rPr>
              <a:t>KPIs</a:t>
            </a:r>
            <a:endParaRPr lang="en-GB" sz="1400" b="1">
              <a:solidFill>
                <a:schemeClr val="bg1"/>
              </a:solidFill>
              <a:highlight>
                <a:srgbClr val="FF0000"/>
              </a:highlight>
              <a:sym typeface="+mn-ea"/>
            </a:endParaRPr>
          </a:p>
        </p:txBody>
      </p:sp>
      <p:sp>
        <p:nvSpPr>
          <p:cNvPr id="7" name="Title 1"/>
          <p:cNvSpPr>
            <a:spLocks noGrp="1"/>
          </p:cNvSpPr>
          <p:nvPr/>
        </p:nvSpPr>
        <p:spPr>
          <a:xfrm>
            <a:off x="629285" y="3693160"/>
            <a:ext cx="5282565" cy="320040"/>
          </a:xfrm>
          <a:prstGeom prst="rect">
            <a:avLst/>
          </a:prstGeom>
          <a:solidFill>
            <a:schemeClr val="accent2">
              <a:lumMod val="60000"/>
              <a:lumOff val="40000"/>
            </a:schemeClr>
          </a:solid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en-GB" sz="1400" b="1">
                <a:solidFill>
                  <a:schemeClr val="bg1"/>
                </a:solidFill>
                <a:highlight>
                  <a:srgbClr val="FF0000"/>
                </a:highlight>
                <a:sym typeface="+mn-ea"/>
              </a:rPr>
              <a:t>Market Trends</a:t>
            </a:r>
            <a:endParaRPr lang="en-GB" sz="1400" b="1">
              <a:solidFill>
                <a:schemeClr val="bg1"/>
              </a:solidFill>
              <a:highlight>
                <a:srgbClr val="FF0000"/>
              </a:highlight>
              <a:sym typeface="+mn-ea"/>
            </a:endParaRPr>
          </a:p>
        </p:txBody>
      </p:sp>
      <p:sp>
        <p:nvSpPr>
          <p:cNvPr id="8" name="Title 1"/>
          <p:cNvSpPr>
            <a:spLocks noGrp="1"/>
          </p:cNvSpPr>
          <p:nvPr/>
        </p:nvSpPr>
        <p:spPr>
          <a:xfrm>
            <a:off x="6360160" y="856615"/>
            <a:ext cx="5282565" cy="320040"/>
          </a:xfrm>
          <a:prstGeom prst="rect">
            <a:avLst/>
          </a:prstGeom>
          <a:solidFill>
            <a:schemeClr val="accent2">
              <a:lumMod val="60000"/>
              <a:lumOff val="40000"/>
            </a:schemeClr>
          </a:solid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en-GB" sz="1400" b="1">
                <a:solidFill>
                  <a:schemeClr val="bg1"/>
                </a:solidFill>
                <a:highlight>
                  <a:srgbClr val="FF0000"/>
                </a:highlight>
                <a:sym typeface="+mn-ea"/>
              </a:rPr>
              <a:t>Market Drivers</a:t>
            </a:r>
            <a:endParaRPr lang="en-GB" sz="1400" b="1">
              <a:solidFill>
                <a:schemeClr val="bg1"/>
              </a:solidFill>
              <a:highlight>
                <a:srgbClr val="FF0000"/>
              </a:highlight>
              <a:sym typeface="+mn-ea"/>
            </a:endParaRPr>
          </a:p>
        </p:txBody>
      </p:sp>
      <p:sp>
        <p:nvSpPr>
          <p:cNvPr id="10" name="Content Placeholder 2"/>
          <p:cNvSpPr>
            <a:spLocks noGrp="1"/>
          </p:cNvSpPr>
          <p:nvPr/>
        </p:nvSpPr>
        <p:spPr>
          <a:xfrm>
            <a:off x="6328410" y="1251585"/>
            <a:ext cx="5314315" cy="2594610"/>
          </a:xfrm>
          <a:prstGeom prst="rect">
            <a:avLst/>
          </a:prstGeom>
          <a:noFill/>
          <a:ln w="9525">
            <a:noFill/>
          </a:ln>
        </p:spPr>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7970" indent="-267970">
              <a:lnSpc>
                <a:spcPct val="120000"/>
              </a:lnSpc>
              <a:buFont typeface="Wingdings" panose="05000000000000000000" charset="0"/>
              <a:buChar char="v"/>
            </a:pPr>
            <a:r>
              <a:rPr lang="en-US" altLang="en-GB" sz="1500" b="1">
                <a:ln>
                  <a:noFill/>
                </a:ln>
                <a:solidFill>
                  <a:schemeClr val="tx1"/>
                </a:solidFill>
              </a:rPr>
              <a:t>Price per sqm by Flat Type – smaller flats higher per sqm</a:t>
            </a:r>
            <a:endParaRPr lang="en-US" altLang="en-GB" sz="1500" b="1">
              <a:ln>
                <a:noFill/>
              </a:ln>
              <a:solidFill>
                <a:schemeClr val="tx1"/>
              </a:solidFill>
            </a:endParaRPr>
          </a:p>
          <a:p>
            <a:pPr marL="267970" indent="-267970">
              <a:lnSpc>
                <a:spcPct val="120000"/>
              </a:lnSpc>
              <a:buFont typeface="Wingdings" panose="05000000000000000000" charset="0"/>
              <a:buChar char="v"/>
            </a:pPr>
            <a:r>
              <a:rPr lang="en-US" altLang="en-GB" sz="1500" b="1">
                <a:ln>
                  <a:noFill/>
                </a:ln>
                <a:solidFill>
                  <a:schemeClr val="tx1"/>
                </a:solidFill>
              </a:rPr>
              <a:t>Resale Price by Storey Bucket – mid‑storey flats more desirable</a:t>
            </a:r>
            <a:endParaRPr lang="en-US" altLang="en-GB" sz="1500" b="1">
              <a:ln>
                <a:noFill/>
              </a:ln>
              <a:solidFill>
                <a:schemeClr val="tx1"/>
              </a:solidFill>
            </a:endParaRPr>
          </a:p>
          <a:p>
            <a:pPr marL="267970" indent="-267970">
              <a:lnSpc>
                <a:spcPct val="120000"/>
              </a:lnSpc>
              <a:buFont typeface="Wingdings" panose="05000000000000000000" charset="0"/>
              <a:buChar char="v"/>
            </a:pPr>
            <a:r>
              <a:rPr lang="en-US" altLang="en-GB" sz="1500" b="1">
                <a:ln>
                  <a:noFill/>
                </a:ln>
                <a:solidFill>
                  <a:schemeClr val="tx1"/>
                </a:solidFill>
              </a:rPr>
              <a:t>Price per sqm by Lease Bucket – mid‑age leases optimal value</a:t>
            </a:r>
            <a:endParaRPr lang="en-US" altLang="en-GB" sz="1500" b="1">
              <a:ln>
                <a:noFill/>
              </a:ln>
              <a:solidFill>
                <a:schemeClr val="tx1"/>
              </a:solidFill>
            </a:endParaRPr>
          </a:p>
          <a:p>
            <a:pPr marL="267970" indent="-267970">
              <a:lnSpc>
                <a:spcPct val="120000"/>
              </a:lnSpc>
              <a:buFont typeface="Wingdings" panose="05000000000000000000" charset="0"/>
              <a:buChar char="v"/>
            </a:pPr>
            <a:r>
              <a:rPr lang="en-US" altLang="en-GB" sz="1500" b="1">
                <a:ln>
                  <a:noFill/>
                </a:ln>
                <a:solidFill>
                  <a:schemeClr val="tx1"/>
                </a:solidFill>
              </a:rPr>
              <a:t>Lease Age by Flat Model – aging stock dominates</a:t>
            </a:r>
            <a:endParaRPr lang="en-US" altLang="en-GB" sz="1500" b="1">
              <a:ln>
                <a:noFill/>
              </a:ln>
              <a:solidFill>
                <a:schemeClr val="tx1"/>
              </a:solidFill>
            </a:endParaRPr>
          </a:p>
          <a:p>
            <a:pPr marL="0" indent="0">
              <a:lnSpc>
                <a:spcPct val="120000"/>
              </a:lnSpc>
              <a:buFont typeface="Wingdings" panose="05000000000000000000" charset="0"/>
              <a:buNone/>
            </a:pPr>
            <a:r>
              <a:rPr lang="en-US" altLang="en-GB" sz="1500" b="1">
                <a:ln>
                  <a:noFill/>
                </a:ln>
                <a:solidFill>
                  <a:schemeClr val="tx1"/>
                </a:solidFill>
              </a:rPr>
              <a:t>Size, type, height, and lease length all influence pricing.”</a:t>
            </a:r>
            <a:endParaRPr lang="en-US" altLang="en-GB" sz="1500" b="1">
              <a:ln>
                <a:noFill/>
              </a:ln>
              <a:solidFill>
                <a:schemeClr val="tx1"/>
              </a:solidFill>
            </a:endParaRPr>
          </a:p>
        </p:txBody>
      </p:sp>
      <p:sp>
        <p:nvSpPr>
          <p:cNvPr id="11" name="Title 1"/>
          <p:cNvSpPr>
            <a:spLocks noGrp="1"/>
          </p:cNvSpPr>
          <p:nvPr/>
        </p:nvSpPr>
        <p:spPr>
          <a:xfrm>
            <a:off x="6328410" y="3693160"/>
            <a:ext cx="5282565" cy="320040"/>
          </a:xfrm>
          <a:prstGeom prst="rect">
            <a:avLst/>
          </a:prstGeom>
          <a:solidFill>
            <a:schemeClr val="accent2">
              <a:lumMod val="60000"/>
              <a:lumOff val="40000"/>
            </a:schemeClr>
          </a:solid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en-GB" sz="1400" b="1">
                <a:solidFill>
                  <a:schemeClr val="bg1"/>
                </a:solidFill>
                <a:highlight>
                  <a:srgbClr val="FF0000"/>
                </a:highlight>
                <a:sym typeface="+mn-ea"/>
              </a:rPr>
              <a:t>Location Insights</a:t>
            </a:r>
            <a:endParaRPr lang="en-GB" sz="1400" b="1">
              <a:solidFill>
                <a:schemeClr val="bg1"/>
              </a:solidFill>
              <a:highlight>
                <a:srgbClr val="FF0000"/>
              </a:highlight>
              <a:sym typeface="+mn-ea"/>
            </a:endParaRPr>
          </a:p>
        </p:txBody>
      </p:sp>
      <p:sp>
        <p:nvSpPr>
          <p:cNvPr id="12" name="Content Placeholder 2"/>
          <p:cNvSpPr>
            <a:spLocks noGrp="1"/>
          </p:cNvSpPr>
          <p:nvPr/>
        </p:nvSpPr>
        <p:spPr>
          <a:xfrm>
            <a:off x="6360160" y="3921125"/>
            <a:ext cx="5302250" cy="2416175"/>
          </a:xfrm>
          <a:prstGeom prst="rect">
            <a:avLst/>
          </a:prstGeom>
          <a:noFill/>
          <a:ln w="9525">
            <a:noFill/>
          </a:ln>
        </p:spPr>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7970" indent="-267970">
              <a:lnSpc>
                <a:spcPct val="120000"/>
              </a:lnSpc>
              <a:buFont typeface="Wingdings" panose="05000000000000000000" charset="0"/>
              <a:buChar char="v"/>
            </a:pPr>
            <a:r>
              <a:rPr lang="en-US" altLang="en-GB" sz="1500" b="1">
                <a:ln>
                  <a:noFill/>
                </a:ln>
                <a:solidFill>
                  <a:schemeClr val="tx1"/>
                </a:solidFill>
              </a:rPr>
              <a:t>Town Map – geographic pricing, lease age, transaction activity</a:t>
            </a:r>
            <a:endParaRPr lang="en-US" altLang="en-GB" sz="1500" b="1">
              <a:ln>
                <a:noFill/>
              </a:ln>
              <a:solidFill>
                <a:schemeClr val="tx1"/>
              </a:solidFill>
            </a:endParaRPr>
          </a:p>
          <a:p>
            <a:pPr marL="267970" indent="-267970">
              <a:lnSpc>
                <a:spcPct val="120000"/>
              </a:lnSpc>
              <a:buFont typeface="Wingdings" panose="05000000000000000000" charset="0"/>
              <a:buChar char="v"/>
            </a:pPr>
            <a:r>
              <a:rPr lang="en-US" altLang="en-GB" sz="1500" b="1">
                <a:ln>
                  <a:noFill/>
                </a:ln>
                <a:solidFill>
                  <a:schemeClr val="tx1"/>
                </a:solidFill>
              </a:rPr>
              <a:t>Resale Price by Town – Bukit Timah, Bishan, Central Area lead</a:t>
            </a:r>
            <a:endParaRPr lang="en-US" altLang="en-GB" sz="1500" b="1">
              <a:ln>
                <a:noFill/>
              </a:ln>
              <a:solidFill>
                <a:schemeClr val="tx1"/>
              </a:solidFill>
            </a:endParaRPr>
          </a:p>
          <a:p>
            <a:pPr marL="0" indent="0">
              <a:lnSpc>
                <a:spcPct val="120000"/>
              </a:lnSpc>
              <a:buFont typeface="Wingdings" panose="05000000000000000000" charset="0"/>
              <a:buNone/>
            </a:pPr>
            <a:r>
              <a:rPr lang="en-US" altLang="en-GB" sz="1500" b="1">
                <a:ln>
                  <a:noFill/>
                </a:ln>
                <a:solidFill>
                  <a:schemeClr val="tx1"/>
                </a:solidFill>
              </a:rPr>
              <a:t>Location remains the strongest determinant of value, with central towns commanding premiums.”</a:t>
            </a:r>
            <a:endParaRPr lang="en-US" altLang="en-GB" sz="1500" b="1">
              <a:ln>
                <a:noFill/>
              </a:ln>
              <a:solidFill>
                <a:schemeClr val="tx1"/>
              </a:solidFill>
            </a:endParaRPr>
          </a:p>
        </p:txBody>
      </p:sp>
      <p:sp>
        <p:nvSpPr>
          <p:cNvPr id="13" name="Text Box 12"/>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16</a:t>
            </a:r>
            <a:endParaRPr lang="en-GB" altLang="en-US" b="1">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5484495" cy="582930"/>
          </a:xfrm>
        </p:spPr>
        <p:txBody>
          <a:bodyPr/>
          <a:p>
            <a:r>
              <a:rPr lang="en-GB" altLang="en-US" sz="2400" b="1">
                <a:highlight>
                  <a:srgbClr val="FF0000"/>
                </a:highlight>
                <a:sym typeface="+mn-ea"/>
              </a:rPr>
              <a:t>Discussion of </a:t>
            </a:r>
            <a:r>
              <a:rPr lang="en-US" altLang="en-GB" sz="2400" b="1">
                <a:highlight>
                  <a:srgbClr val="FF0000"/>
                </a:highlight>
                <a:sym typeface="+mn-ea"/>
              </a:rPr>
              <a:t>Findings</a:t>
            </a:r>
            <a:r>
              <a:rPr lang="en-GB" altLang="en-US" sz="2400" b="1">
                <a:highlight>
                  <a:srgbClr val="FF0000"/>
                </a:highlight>
                <a:sym typeface="+mn-ea"/>
              </a:rPr>
              <a:t> Contd</a:t>
            </a:r>
            <a:endParaRPr lang="en-GB" altLang="en-US" sz="2400" b="1">
              <a:highlight>
                <a:srgbClr val="FF0000"/>
              </a:highlight>
              <a:sym typeface="+mn-ea"/>
            </a:endParaRPr>
          </a:p>
        </p:txBody>
      </p:sp>
      <p:sp>
        <p:nvSpPr>
          <p:cNvPr id="3" name="Content Placeholder 2"/>
          <p:cNvSpPr>
            <a:spLocks noGrp="1"/>
          </p:cNvSpPr>
          <p:nvPr>
            <p:ph idx="1"/>
          </p:nvPr>
        </p:nvSpPr>
        <p:spPr>
          <a:xfrm>
            <a:off x="629285" y="1335405"/>
            <a:ext cx="4937760" cy="4084320"/>
          </a:xfrm>
        </p:spPr>
        <p:txBody>
          <a:bodyPr/>
          <a:p>
            <a:pPr>
              <a:lnSpc>
                <a:spcPct val="120000"/>
              </a:lnSpc>
              <a:buFont typeface="Wingdings" panose="05000000000000000000" charset="0"/>
              <a:buChar char="v"/>
            </a:pPr>
            <a:r>
              <a:rPr lang="en-US" altLang="en-GB" sz="1500" b="1">
                <a:ln>
                  <a:noFill/>
                </a:ln>
                <a:solidFill>
                  <a:schemeClr val="tx1"/>
                </a:solidFill>
              </a:rPr>
              <a:t>Price per sqm by Flat Type &amp; Town – smaller flats in prime towns yield higher value</a:t>
            </a:r>
            <a:endParaRPr lang="en-US" altLang="en-GB" sz="1500" b="1">
              <a:ln>
                <a:noFill/>
              </a:ln>
              <a:solidFill>
                <a:schemeClr val="tx1"/>
              </a:solidFill>
            </a:endParaRPr>
          </a:p>
          <a:p>
            <a:pPr marL="267970" indent="-267970">
              <a:lnSpc>
                <a:spcPct val="150000"/>
              </a:lnSpc>
              <a:buFont typeface="Wingdings" panose="05000000000000000000" charset="0"/>
              <a:buChar char="v"/>
            </a:pPr>
            <a:r>
              <a:rPr lang="en-US" altLang="en-GB" sz="1500" b="1">
                <a:ln>
                  <a:noFill/>
                </a:ln>
                <a:solidFill>
                  <a:schemeClr val="tx1"/>
                </a:solidFill>
              </a:rPr>
              <a:t>Floor Area by Year – transaction volume peaked in 2017–2018, slowed in 2019</a:t>
            </a:r>
            <a:endParaRPr lang="en-US" altLang="en-GB" sz="1500" b="1">
              <a:ln>
                <a:noFill/>
              </a:ln>
              <a:solidFill>
                <a:schemeClr val="tx1"/>
              </a:solidFill>
            </a:endParaRPr>
          </a:p>
          <a:p>
            <a:pPr marL="267970" indent="-267970">
              <a:lnSpc>
                <a:spcPct val="150000"/>
              </a:lnSpc>
              <a:buFont typeface="Wingdings" panose="05000000000000000000" charset="0"/>
              <a:buChar char="v"/>
            </a:pPr>
            <a:r>
              <a:rPr lang="en-US" altLang="en-GB" sz="1500" b="1">
                <a:ln>
                  <a:noFill/>
                </a:ln>
                <a:solidFill>
                  <a:schemeClr val="tx1"/>
                </a:solidFill>
              </a:rPr>
              <a:t>Price per sqm by Lease Bucket – mid‑age flats most efficient per sqm</a:t>
            </a:r>
            <a:endParaRPr lang="en-US" altLang="en-GB" sz="1500" b="1">
              <a:ln>
                <a:noFill/>
              </a:ln>
              <a:solidFill>
                <a:schemeClr val="tx1"/>
              </a:solidFill>
            </a:endParaRPr>
          </a:p>
          <a:p>
            <a:pPr marL="267970" indent="-267970">
              <a:lnSpc>
                <a:spcPct val="150000"/>
              </a:lnSpc>
              <a:buFont typeface="Wingdings" panose="05000000000000000000" charset="0"/>
              <a:buChar char="v"/>
            </a:pPr>
            <a:r>
              <a:rPr lang="en-US" altLang="en-GB" sz="1500" b="1">
                <a:ln>
                  <a:noFill/>
                </a:ln>
                <a:solidFill>
                  <a:schemeClr val="tx1"/>
                </a:solidFill>
              </a:rPr>
              <a:t>Resale Price vs Remaining Lease – longer leases command higher resale prices</a:t>
            </a:r>
            <a:endParaRPr lang="en-US" altLang="en-GB" sz="1500" b="1">
              <a:ln>
                <a:noFill/>
              </a:ln>
              <a:solidFill>
                <a:schemeClr val="tx1"/>
              </a:solidFill>
            </a:endParaRPr>
          </a:p>
          <a:p>
            <a:pPr marL="267970" indent="-267970">
              <a:lnSpc>
                <a:spcPct val="150000"/>
              </a:lnSpc>
              <a:buFont typeface="Wingdings" panose="05000000000000000000" charset="0"/>
              <a:buChar char="v"/>
            </a:pPr>
            <a:r>
              <a:rPr lang="zh-CN" altLang="en-US" sz="1500" b="1">
                <a:ln>
                  <a:noFill/>
                </a:ln>
                <a:solidFill>
                  <a:schemeClr val="tx1"/>
                </a:solidFill>
              </a:rPr>
              <a:t>👉</a:t>
            </a:r>
            <a:r>
              <a:rPr lang="en-US" altLang="en-GB" sz="1500" b="1">
                <a:ln>
                  <a:noFill/>
                </a:ln>
                <a:solidFill>
                  <a:schemeClr val="tx1"/>
                </a:solidFill>
              </a:rPr>
              <a:t> Storytelling: “Housing stock composition directly influences supply and demand.”</a:t>
            </a:r>
            <a:endParaRPr lang="en-US" altLang="en-GB" sz="1500" b="1">
              <a:ln>
                <a:noFill/>
              </a:ln>
              <a:solidFill>
                <a:schemeClr val="tx1"/>
              </a:solidFill>
            </a:endParaRPr>
          </a:p>
        </p:txBody>
      </p:sp>
      <p:sp>
        <p:nvSpPr>
          <p:cNvPr id="6" name="Title 1"/>
          <p:cNvSpPr>
            <a:spLocks noGrp="1"/>
          </p:cNvSpPr>
          <p:nvPr/>
        </p:nvSpPr>
        <p:spPr>
          <a:xfrm>
            <a:off x="629285" y="856615"/>
            <a:ext cx="5282565" cy="320040"/>
          </a:xfrm>
          <a:prstGeom prst="rect">
            <a:avLst/>
          </a:prstGeom>
          <a:solidFill>
            <a:schemeClr val="accent2">
              <a:lumMod val="60000"/>
              <a:lumOff val="40000"/>
            </a:schemeClr>
          </a:solid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en-GB" sz="1600" b="1">
                <a:solidFill>
                  <a:schemeClr val="bg1"/>
                </a:solidFill>
                <a:highlight>
                  <a:srgbClr val="FF0000"/>
                </a:highlight>
                <a:sym typeface="+mn-ea"/>
              </a:rPr>
              <a:t>Inventory and Mix</a:t>
            </a:r>
            <a:endParaRPr lang="en-GB" sz="1600" b="1">
              <a:solidFill>
                <a:schemeClr val="bg1"/>
              </a:solidFill>
              <a:highlight>
                <a:srgbClr val="FF0000"/>
              </a:highlight>
              <a:sym typeface="+mn-ea"/>
            </a:endParaRPr>
          </a:p>
        </p:txBody>
      </p:sp>
      <p:sp>
        <p:nvSpPr>
          <p:cNvPr id="9" name="Flowchart: Punched Tape 8"/>
          <p:cNvSpPr/>
          <p:nvPr/>
        </p:nvSpPr>
        <p:spPr>
          <a:xfrm flipH="1">
            <a:off x="6380480" y="245745"/>
            <a:ext cx="5808345" cy="6857365"/>
          </a:xfrm>
          <a:prstGeom prst="flowChartPunchedTape">
            <a:avLst/>
          </a:prstGeom>
          <a:gradFill rotWithShape="0">
            <a:gsLst>
              <a:gs pos="0">
                <a:schemeClr val="accent1">
                  <a:lumMod val="0"/>
                  <a:alpha val="0"/>
                  <a:lumOff val="10000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accent3">
                  <a:lumMod val="40000"/>
                  <a:lumOff val="60000"/>
                </a:schemeClr>
              </a:solidFill>
              <a:effectLst/>
              <a:latin typeface="Arial" panose="020B0604020202020204" pitchFamily="34" charset="0"/>
              <a:ea typeface="SimSun" panose="02010600030101010101" pitchFamily="2" charset="-122"/>
            </a:endParaRPr>
          </a:p>
        </p:txBody>
      </p:sp>
      <p:sp>
        <p:nvSpPr>
          <p:cNvPr id="4" name="Text Box 3"/>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17</a:t>
            </a:r>
            <a:endParaRPr lang="en-GB" altLang="en-US" b="1">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441" y="495300"/>
            <a:ext cx="10969943" cy="582613"/>
          </a:xfrm>
        </p:spPr>
        <p:txBody>
          <a:bodyPr/>
          <a:lstStyle/>
          <a:p>
            <a:r>
              <a:t>Strategic Implications</a:t>
            </a:r>
          </a:p>
        </p:txBody>
      </p:sp>
      <p:sp>
        <p:nvSpPr>
          <p:cNvPr id="3" name="Content Placeholder 2"/>
          <p:cNvSpPr>
            <a:spLocks noGrp="1"/>
          </p:cNvSpPr>
          <p:nvPr>
            <p:ph idx="1"/>
          </p:nvPr>
        </p:nvSpPr>
        <p:spPr>
          <a:xfrm>
            <a:off x="1590040" y="1441450"/>
            <a:ext cx="9684385" cy="3550285"/>
          </a:xfrm>
        </p:spPr>
        <p:txBody>
          <a:bodyPr/>
          <a:lstStyle/>
          <a:p>
            <a:pPr marL="0" indent="0">
              <a:lnSpc>
                <a:spcPct val="170000"/>
              </a:lnSpc>
              <a:spcAft>
                <a:spcPts val="1000"/>
              </a:spcAft>
              <a:buNone/>
              <a:defRPr sz="1800"/>
            </a:pPr>
            <a:r>
              <a:rPr sz="2400">
                <a:latin typeface="Arial" panose="020B0604020202020204" pitchFamily="34" charset="0"/>
                <a:cs typeface="Arial" panose="020B0604020202020204" pitchFamily="34" charset="0"/>
              </a:rPr>
              <a:t>Rising prices and aging stock suggest renewal policies are needed.</a:t>
            </a:r>
            <a:br>
              <a:rPr sz="2400">
                <a:latin typeface="Arial" panose="020B0604020202020204" pitchFamily="34" charset="0"/>
                <a:cs typeface="Arial" panose="020B0604020202020204" pitchFamily="34" charset="0"/>
              </a:rPr>
            </a:br>
            <a:r>
              <a:rPr sz="2400">
                <a:latin typeface="Arial" panose="020B0604020202020204" pitchFamily="34" charset="0"/>
                <a:cs typeface="Arial" panose="020B0604020202020204" pitchFamily="34" charset="0"/>
              </a:rPr>
              <a:t>Location-based pricing highlights investment hotspots.</a:t>
            </a:r>
            <a:br>
              <a:rPr sz="2400">
                <a:latin typeface="Arial" panose="020B0604020202020204" pitchFamily="34" charset="0"/>
                <a:cs typeface="Arial" panose="020B0604020202020204" pitchFamily="34" charset="0"/>
              </a:rPr>
            </a:br>
            <a:r>
              <a:rPr sz="2400">
                <a:latin typeface="Arial" panose="020B0604020202020204" pitchFamily="34" charset="0"/>
                <a:cs typeface="Arial" panose="020B0604020202020204" pitchFamily="34" charset="0"/>
              </a:rPr>
              <a:t>Inventory mix informs future housing development.</a:t>
            </a:r>
            <a:br>
              <a:rPr sz="2400">
                <a:latin typeface="Arial" panose="020B0604020202020204" pitchFamily="34" charset="0"/>
                <a:cs typeface="Arial" panose="020B0604020202020204" pitchFamily="34" charset="0"/>
              </a:rPr>
            </a:br>
            <a:r>
              <a:rPr sz="2400">
                <a:latin typeface="Arial" panose="020B0604020202020204" pitchFamily="34" charset="0"/>
                <a:cs typeface="Arial" panose="020B0604020202020204" pitchFamily="34" charset="0"/>
              </a:rPr>
              <a:t>Data-driven insights support evidence-based policymaking and resource allocation.</a:t>
            </a:r>
            <a:endParaRPr sz="2400">
              <a:latin typeface="Arial" panose="020B0604020202020204" pitchFamily="34" charset="0"/>
              <a:cs typeface="Arial" panose="020B0604020202020204" pitchFamily="34" charset="0"/>
            </a:endParaRPr>
          </a:p>
          <a:p>
            <a:pPr>
              <a:lnSpc>
                <a:spcPct val="170000"/>
              </a:lnSpc>
              <a:defRPr sz="1600" i="1">
                <a:solidFill>
                  <a:srgbClr val="646464"/>
                </a:solidFill>
              </a:defRPr>
            </a:pPr>
            <a:endParaRPr sz="2400">
              <a:latin typeface="Arial" panose="020B0604020202020204" pitchFamily="34" charset="0"/>
              <a:cs typeface="Arial" panose="020B0604020202020204" pitchFamily="34" charset="0"/>
            </a:endParaRPr>
          </a:p>
        </p:txBody>
      </p:sp>
      <p:sp>
        <p:nvSpPr>
          <p:cNvPr id="5" name="Diamond 4"/>
          <p:cNvSpPr/>
          <p:nvPr/>
        </p:nvSpPr>
        <p:spPr>
          <a:xfrm>
            <a:off x="1207770" y="1685925"/>
            <a:ext cx="382270" cy="3048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 name="Diamond 5"/>
          <p:cNvSpPr/>
          <p:nvPr/>
        </p:nvSpPr>
        <p:spPr>
          <a:xfrm>
            <a:off x="1207770" y="2371725"/>
            <a:ext cx="382270" cy="3048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 name="Diamond 6"/>
          <p:cNvSpPr/>
          <p:nvPr/>
        </p:nvSpPr>
        <p:spPr>
          <a:xfrm>
            <a:off x="1207770" y="2903220"/>
            <a:ext cx="382270" cy="3048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8" name="Diamond 7"/>
          <p:cNvSpPr/>
          <p:nvPr/>
        </p:nvSpPr>
        <p:spPr>
          <a:xfrm>
            <a:off x="1207770" y="3608070"/>
            <a:ext cx="382270" cy="3048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9" name="Flowchart: Punched Tape 8"/>
          <p:cNvSpPr/>
          <p:nvPr/>
        </p:nvSpPr>
        <p:spPr>
          <a:xfrm flipH="1" flipV="1">
            <a:off x="609600" y="163195"/>
            <a:ext cx="4634230" cy="1141730"/>
          </a:xfrm>
          <a:prstGeom prst="flowChartPunchedTape">
            <a:avLst/>
          </a:prstGeom>
          <a:gradFill rotWithShape="0">
            <a:gsLst>
              <a:gs pos="0">
                <a:schemeClr val="accent1">
                  <a:lumMod val="0"/>
                  <a:alpha val="0"/>
                  <a:lumOff val="10000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0" name="Flowchart: Magnetic Disk 9"/>
          <p:cNvSpPr/>
          <p:nvPr/>
        </p:nvSpPr>
        <p:spPr>
          <a:xfrm>
            <a:off x="10389235" y="67310"/>
            <a:ext cx="1799590" cy="6790690"/>
          </a:xfrm>
          <a:prstGeom prst="flowChartMagneticDisk">
            <a:avLst/>
          </a:prstGeom>
          <a:gradFill rotWithShape="0">
            <a:gsLst>
              <a:gs pos="0">
                <a:schemeClr val="accent1">
                  <a:lumMod val="20000"/>
                  <a:lumOff val="80000"/>
                  <a:alpha val="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1" name="Text Box 10"/>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18</a:t>
            </a:r>
            <a:endParaRPr lang="en-GB" altLang="en-US" b="1">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23741" y="190500"/>
            <a:ext cx="10969943" cy="582613"/>
          </a:xfrm>
        </p:spPr>
        <p:txBody>
          <a:bodyPr/>
          <a:p>
            <a:r>
              <a:rPr lang="en-US" altLang="en-GB" b="1">
                <a:solidFill>
                  <a:schemeClr val="accent3">
                    <a:lumMod val="60000"/>
                    <a:lumOff val="40000"/>
                  </a:schemeClr>
                </a:solidFill>
                <a:sym typeface="+mn-ea"/>
              </a:rPr>
              <a:t>Recommendations</a:t>
            </a:r>
            <a:endParaRPr lang="en-US" altLang="en-GB" b="1">
              <a:solidFill>
                <a:schemeClr val="accent3">
                  <a:lumMod val="60000"/>
                  <a:lumOff val="40000"/>
                </a:schemeClr>
              </a:solidFill>
              <a:sym typeface="+mn-ea"/>
            </a:endParaRPr>
          </a:p>
        </p:txBody>
      </p:sp>
      <p:sp>
        <p:nvSpPr>
          <p:cNvPr id="3" name="Content Placeholder 2"/>
          <p:cNvSpPr>
            <a:spLocks noGrp="1"/>
          </p:cNvSpPr>
          <p:nvPr>
            <p:ph idx="1"/>
          </p:nvPr>
        </p:nvSpPr>
        <p:spPr>
          <a:xfrm>
            <a:off x="1332865" y="1174750"/>
            <a:ext cx="10246360" cy="4286250"/>
          </a:xfrm>
        </p:spPr>
        <p:txBody>
          <a:bodyPr/>
          <a:p>
            <a:pPr marL="0" indent="0">
              <a:lnSpc>
                <a:spcPct val="150000"/>
              </a:lnSpc>
              <a:buNone/>
            </a:pPr>
            <a:r>
              <a:rPr lang="en-US" altLang="en-GB"/>
              <a:t>Renewal policies for aging housing stock</a:t>
            </a:r>
            <a:endParaRPr lang="en-US" altLang="en-GB"/>
          </a:p>
          <a:p>
            <a:pPr marL="0" indent="0">
              <a:lnSpc>
                <a:spcPct val="150000"/>
              </a:lnSpc>
              <a:buNone/>
            </a:pPr>
            <a:r>
              <a:rPr lang="en-US" altLang="en-GB"/>
              <a:t>Target investment in premium towns</a:t>
            </a:r>
            <a:endParaRPr lang="en-US" altLang="en-GB"/>
          </a:p>
          <a:p>
            <a:pPr marL="0" indent="0">
              <a:lnSpc>
                <a:spcPct val="150000"/>
              </a:lnSpc>
              <a:buNone/>
            </a:pPr>
            <a:r>
              <a:rPr lang="en-US" altLang="en-GB"/>
              <a:t>Affordability measures for smaller units</a:t>
            </a:r>
            <a:endParaRPr lang="en-US" altLang="en-GB"/>
          </a:p>
          <a:p>
            <a:pPr marL="0" indent="0">
              <a:lnSpc>
                <a:spcPct val="150000"/>
              </a:lnSpc>
              <a:buNone/>
            </a:pPr>
            <a:r>
              <a:rPr lang="en-US" altLang="en-GB"/>
              <a:t>Encourage mid‑storey developments to match buyer preferences</a:t>
            </a:r>
            <a:endParaRPr lang="en-US" altLang="en-GB"/>
          </a:p>
        </p:txBody>
      </p:sp>
      <p:sp>
        <p:nvSpPr>
          <p:cNvPr id="9" name="Flowchart: Punched Tape 8"/>
          <p:cNvSpPr/>
          <p:nvPr/>
        </p:nvSpPr>
        <p:spPr>
          <a:xfrm flipH="1" flipV="1">
            <a:off x="381000" y="-88900"/>
            <a:ext cx="4634230" cy="1141730"/>
          </a:xfrm>
          <a:prstGeom prst="flowChartPunchedTape">
            <a:avLst/>
          </a:prstGeom>
          <a:gradFill rotWithShape="0">
            <a:gsLst>
              <a:gs pos="0">
                <a:schemeClr val="accent1">
                  <a:lumMod val="0"/>
                  <a:alpha val="0"/>
                  <a:lumOff val="10000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5" name="Diamond 4"/>
          <p:cNvSpPr/>
          <p:nvPr/>
        </p:nvSpPr>
        <p:spPr>
          <a:xfrm>
            <a:off x="950595" y="1571625"/>
            <a:ext cx="382270" cy="3048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 name="Diamond 3"/>
          <p:cNvSpPr/>
          <p:nvPr/>
        </p:nvSpPr>
        <p:spPr>
          <a:xfrm>
            <a:off x="950595" y="2395220"/>
            <a:ext cx="382270" cy="3048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 name="Diamond 5"/>
          <p:cNvSpPr/>
          <p:nvPr/>
        </p:nvSpPr>
        <p:spPr>
          <a:xfrm>
            <a:off x="969645" y="3124200"/>
            <a:ext cx="382270" cy="3048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 name="Diamond 6"/>
          <p:cNvSpPr/>
          <p:nvPr/>
        </p:nvSpPr>
        <p:spPr>
          <a:xfrm>
            <a:off x="969645" y="4042410"/>
            <a:ext cx="382270" cy="3048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0" name="Flowchart: Magnetic Disk 9"/>
          <p:cNvSpPr/>
          <p:nvPr/>
        </p:nvSpPr>
        <p:spPr>
          <a:xfrm>
            <a:off x="10389235" y="67310"/>
            <a:ext cx="1799590" cy="6790690"/>
          </a:xfrm>
          <a:prstGeom prst="flowChartMagneticDisk">
            <a:avLst/>
          </a:prstGeom>
          <a:gradFill rotWithShape="0">
            <a:gsLst>
              <a:gs pos="0">
                <a:schemeClr val="accent1">
                  <a:lumMod val="20000"/>
                  <a:lumOff val="80000"/>
                  <a:alpha val="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1" name="Text Box 10"/>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19</a:t>
            </a:r>
            <a:endParaRPr lang="en-GB" altLang="en-US" b="1">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sym typeface="+mn-ea"/>
              </a:rPr>
              <a:t>Conclusion</a:t>
            </a:r>
            <a:endParaRPr lang="en-GB" altLang="en-US"/>
          </a:p>
        </p:txBody>
      </p:sp>
      <p:sp>
        <p:nvSpPr>
          <p:cNvPr id="3" name="Content Placeholder 2"/>
          <p:cNvSpPr>
            <a:spLocks noGrp="1"/>
          </p:cNvSpPr>
          <p:nvPr>
            <p:ph idx="1"/>
          </p:nvPr>
        </p:nvSpPr>
        <p:spPr/>
        <p:txBody>
          <a:bodyPr/>
          <a:p>
            <a:r>
              <a:rPr lang="en-US" altLang="en-GB"/>
              <a:t>The housing market is characterized by rising prices, aging stock, and geographic disparities.</a:t>
            </a:r>
            <a:endParaRPr lang="en-US" altLang="en-GB"/>
          </a:p>
          <a:p>
            <a:r>
              <a:rPr lang="en-US" altLang="en-GB"/>
              <a:t>Renewal policies and affordability measures are needed to sustain market balance.</a:t>
            </a:r>
            <a:endParaRPr lang="en-US" altLang="en-GB"/>
          </a:p>
          <a:p>
            <a:r>
              <a:rPr lang="en-US" altLang="en-GB"/>
              <a:t>Location‑based strategies and predictive analytics will guide future planning, ensuring housing supply aligns with demand and long‑term sustainability.</a:t>
            </a:r>
            <a:endParaRPr lang="en-US" altLang="en-GB"/>
          </a:p>
        </p:txBody>
      </p:sp>
      <p:sp>
        <p:nvSpPr>
          <p:cNvPr id="11" name="Text Box 10"/>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20</a:t>
            </a:r>
            <a:endParaRPr lang="en-GB" altLang="en-US" b="1">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chemeClr val="accent1"/>
                </a:solidFill>
                <a:sym typeface="+mn-ea"/>
              </a:rPr>
              <a:t>Future Scope</a:t>
            </a:r>
            <a:endParaRPr lang="en-US" altLang="en-GB" b="1">
              <a:solidFill>
                <a:schemeClr val="accent1"/>
              </a:solidFill>
              <a:sym typeface="+mn-ea"/>
            </a:endParaRPr>
          </a:p>
        </p:txBody>
      </p:sp>
      <p:sp>
        <p:nvSpPr>
          <p:cNvPr id="3" name="Content Placeholder 2"/>
          <p:cNvSpPr>
            <a:spLocks noGrp="1"/>
          </p:cNvSpPr>
          <p:nvPr>
            <p:ph idx="1"/>
          </p:nvPr>
        </p:nvSpPr>
        <p:spPr>
          <a:xfrm>
            <a:off x="1333500" y="952500"/>
            <a:ext cx="10113010" cy="4953000"/>
          </a:xfrm>
        </p:spPr>
        <p:txBody>
          <a:bodyPr/>
          <a:p>
            <a:pPr marL="0" indent="0">
              <a:lnSpc>
                <a:spcPct val="150000"/>
              </a:lnSpc>
              <a:buNone/>
            </a:pPr>
            <a:r>
              <a:rPr lang="en-US" altLang="en-GB"/>
              <a:t>Deeper regional and town‑level analysis</a:t>
            </a:r>
            <a:endParaRPr lang="en-US" altLang="en-GB"/>
          </a:p>
          <a:p>
            <a:pPr marL="0" indent="0">
              <a:lnSpc>
                <a:spcPct val="150000"/>
              </a:lnSpc>
              <a:buNone/>
            </a:pPr>
            <a:r>
              <a:rPr lang="en-US" altLang="en-GB"/>
              <a:t>Monitor lease trends and pricing impact</a:t>
            </a:r>
            <a:endParaRPr lang="en-US" altLang="en-GB"/>
          </a:p>
          <a:p>
            <a:pPr marL="0" indent="0">
              <a:lnSpc>
                <a:spcPct val="150000"/>
              </a:lnSpc>
              <a:buNone/>
            </a:pPr>
            <a:r>
              <a:rPr lang="en-US" altLang="en-GB"/>
              <a:t>Integrate predictive analytics for housing demand</a:t>
            </a:r>
            <a:endParaRPr lang="en-US" altLang="en-GB"/>
          </a:p>
          <a:p>
            <a:pPr marL="0" indent="0">
              <a:lnSpc>
                <a:spcPct val="150000"/>
              </a:lnSpc>
              <a:buNone/>
            </a:pPr>
            <a:r>
              <a:rPr lang="en-US" altLang="en-GB"/>
              <a:t>Explore policy simulations for affordability and renewal strategies</a:t>
            </a:r>
            <a:endParaRPr lang="en-US" altLang="en-GB"/>
          </a:p>
        </p:txBody>
      </p:sp>
      <p:sp>
        <p:nvSpPr>
          <p:cNvPr id="9" name="Flowchart: Punched Tape 8"/>
          <p:cNvSpPr/>
          <p:nvPr/>
        </p:nvSpPr>
        <p:spPr>
          <a:xfrm flipH="1" flipV="1">
            <a:off x="609600" y="0"/>
            <a:ext cx="3606165" cy="1141730"/>
          </a:xfrm>
          <a:prstGeom prst="flowChartPunchedTape">
            <a:avLst/>
          </a:prstGeom>
          <a:gradFill rotWithShape="0">
            <a:gsLst>
              <a:gs pos="0">
                <a:schemeClr val="accent1">
                  <a:lumMod val="0"/>
                  <a:alpha val="0"/>
                  <a:lumOff val="10000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0" name="Flowchart: Magnetic Disk 9"/>
          <p:cNvSpPr/>
          <p:nvPr/>
        </p:nvSpPr>
        <p:spPr>
          <a:xfrm>
            <a:off x="10389235" y="67310"/>
            <a:ext cx="1799590" cy="6790690"/>
          </a:xfrm>
          <a:prstGeom prst="flowChartMagneticDisk">
            <a:avLst/>
          </a:prstGeom>
          <a:gradFill rotWithShape="0">
            <a:gsLst>
              <a:gs pos="0">
                <a:schemeClr val="accent1">
                  <a:lumMod val="20000"/>
                  <a:lumOff val="80000"/>
                  <a:alpha val="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5" name="Diamond 4"/>
          <p:cNvSpPr/>
          <p:nvPr/>
        </p:nvSpPr>
        <p:spPr>
          <a:xfrm>
            <a:off x="950595" y="1266825"/>
            <a:ext cx="382270" cy="304800"/>
          </a:xfrm>
          <a:prstGeom prst="diamond">
            <a:avLst/>
          </a:prstGeom>
          <a:gradFill rotWithShape="0">
            <a:gsLst>
              <a:gs pos="0">
                <a:srgbClr val="FF0000"/>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 name="Diamond 3"/>
          <p:cNvSpPr/>
          <p:nvPr/>
        </p:nvSpPr>
        <p:spPr>
          <a:xfrm>
            <a:off x="950595" y="2181225"/>
            <a:ext cx="382270" cy="304800"/>
          </a:xfrm>
          <a:prstGeom prst="diamond">
            <a:avLst/>
          </a:prstGeom>
          <a:gradFill rotWithShape="0">
            <a:gsLst>
              <a:gs pos="0">
                <a:srgbClr val="FF0000"/>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 name="Diamond 5"/>
          <p:cNvSpPr/>
          <p:nvPr/>
        </p:nvSpPr>
        <p:spPr>
          <a:xfrm>
            <a:off x="951230" y="2962275"/>
            <a:ext cx="382270" cy="304800"/>
          </a:xfrm>
          <a:prstGeom prst="diamond">
            <a:avLst/>
          </a:prstGeom>
          <a:gradFill rotWithShape="0">
            <a:gsLst>
              <a:gs pos="0">
                <a:srgbClr val="FF0000"/>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 name="Diamond 6"/>
          <p:cNvSpPr/>
          <p:nvPr/>
        </p:nvSpPr>
        <p:spPr>
          <a:xfrm>
            <a:off x="950595" y="3743325"/>
            <a:ext cx="382270" cy="304800"/>
          </a:xfrm>
          <a:prstGeom prst="diamond">
            <a:avLst/>
          </a:prstGeom>
          <a:gradFill rotWithShape="0">
            <a:gsLst>
              <a:gs pos="0">
                <a:srgbClr val="FF0000"/>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1" name="Text Box 10"/>
          <p:cNvSpPr txBox="1"/>
          <p:nvPr/>
        </p:nvSpPr>
        <p:spPr>
          <a:xfrm>
            <a:off x="11075670" y="6133465"/>
            <a:ext cx="523240" cy="540385"/>
          </a:xfrm>
          <a:prstGeom prst="rect">
            <a:avLst/>
          </a:prstGeom>
          <a:solidFill>
            <a:schemeClr val="accent1"/>
          </a:solidFill>
        </p:spPr>
        <p:txBody>
          <a:bodyPr wrap="square" rtlCol="0">
            <a:noAutofit/>
          </a:bodyPr>
          <a:p>
            <a:r>
              <a:rPr lang="en-GB" altLang="en-US" b="1">
                <a:solidFill>
                  <a:schemeClr val="bg1"/>
                </a:solidFill>
              </a:rPr>
              <a:t>21</a:t>
            </a:r>
            <a:endParaRPr lang="en-GB" altLang="en-US" b="1">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257550" y="1485265"/>
            <a:ext cx="4683760" cy="582930"/>
          </a:xfrm>
        </p:spPr>
        <p:txBody>
          <a:bodyPr/>
          <a:lstStyle/>
          <a:p>
            <a:pPr algn="ctr"/>
            <a:r>
              <a:rPr lang="en-GB">
                <a:effectLst>
                  <a:glow rad="228600">
                    <a:schemeClr val="accent1">
                      <a:satMod val="175000"/>
                      <a:alpha val="40000"/>
                    </a:schemeClr>
                  </a:glow>
                </a:effectLst>
              </a:rPr>
              <a:t>Next Steps</a:t>
            </a:r>
            <a:endParaRPr lang="en-GB">
              <a:effectLst>
                <a:glow rad="228600">
                  <a:schemeClr val="accent1">
                    <a:satMod val="175000"/>
                    <a:alpha val="40000"/>
                  </a:schemeClr>
                </a:glow>
              </a:effectLst>
            </a:endParaRPr>
          </a:p>
        </p:txBody>
      </p:sp>
      <p:sp>
        <p:nvSpPr>
          <p:cNvPr id="3" name="Content Placeholder 2"/>
          <p:cNvSpPr>
            <a:spLocks noGrp="1"/>
          </p:cNvSpPr>
          <p:nvPr>
            <p:ph idx="1"/>
          </p:nvPr>
        </p:nvSpPr>
        <p:spPr>
          <a:xfrm>
            <a:off x="1755140" y="2463165"/>
            <a:ext cx="8551545" cy="965835"/>
          </a:xfrm>
        </p:spPr>
        <p:txBody>
          <a:bodyPr/>
          <a:lstStyle/>
          <a:p>
            <a:pPr marL="0" indent="0" algn="ctr">
              <a:spcAft>
                <a:spcPts val="1000"/>
              </a:spcAft>
              <a:buNone/>
              <a:defRPr sz="1800"/>
            </a:pPr>
            <a:r>
              <a:rPr lang="en-GB" sz="2800"/>
              <a:t>D</a:t>
            </a:r>
            <a:r>
              <a:rPr sz="2800"/>
              <a:t>eeper regional analysis and continued monitoring to support strategic planning.</a:t>
            </a:r>
            <a:endParaRPr sz="2800"/>
          </a:p>
          <a:p>
            <a:pPr marL="0" indent="0" algn="ctr">
              <a:spcAft>
                <a:spcPts val="1000"/>
              </a:spcAft>
              <a:buNone/>
              <a:defRPr sz="1800"/>
            </a:pPr>
            <a:endParaRPr sz="2800"/>
          </a:p>
        </p:txBody>
      </p:sp>
      <p:sp>
        <p:nvSpPr>
          <p:cNvPr id="4" name="Flowchart: Punched Tape 3"/>
          <p:cNvSpPr/>
          <p:nvPr/>
        </p:nvSpPr>
        <p:spPr>
          <a:xfrm>
            <a:off x="0" y="0"/>
            <a:ext cx="12188825" cy="6711315"/>
          </a:xfrm>
          <a:prstGeom prst="flowChartPunchedTape">
            <a:avLst/>
          </a:prstGeom>
          <a:gradFill rotWithShape="0">
            <a:gsLst>
              <a:gs pos="85000">
                <a:schemeClr val="accent1">
                  <a:lumMod val="95000"/>
                  <a:alpha val="0"/>
                </a:schemeClr>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1" name="Text Box 10"/>
          <p:cNvSpPr txBox="1"/>
          <p:nvPr/>
        </p:nvSpPr>
        <p:spPr>
          <a:xfrm>
            <a:off x="11075670" y="6133465"/>
            <a:ext cx="523240" cy="540385"/>
          </a:xfrm>
          <a:prstGeom prst="rect">
            <a:avLst/>
          </a:prstGeom>
          <a:solidFill>
            <a:schemeClr val="accent1"/>
          </a:solidFill>
        </p:spPr>
        <p:txBody>
          <a:bodyPr wrap="square" rtlCol="0">
            <a:noAutofit/>
          </a:bodyPr>
          <a:p>
            <a:endParaRPr lang="en-GB" altLang="en-US" b="1">
              <a:solidFill>
                <a:schemeClr val="bg1"/>
              </a:solidFill>
            </a:endParaRPr>
          </a:p>
          <a:p>
            <a:pPr algn="ctr"/>
            <a:r>
              <a:rPr lang="en-GB" altLang="en-US" b="1">
                <a:solidFill>
                  <a:schemeClr val="bg1"/>
                </a:solidFill>
              </a:rPr>
              <a:t>22</a:t>
            </a:r>
            <a:endParaRPr lang="en-GB" altLang="en-US" b="1">
              <a:solidFill>
                <a:schemeClr val="bg1"/>
              </a:solidFill>
            </a:endParaRPr>
          </a:p>
        </p:txBody>
      </p:sp>
    </p:spTree>
  </p:cSld>
  <p:clrMapOvr>
    <a:masterClrMapping/>
  </p:clrMapOvr>
</p:sld>
</file>

<file path=ppt/theme/theme1.xml><?xml version="1.0" encoding="utf-8"?>
<a:theme xmlns:a="http://schemas.openxmlformats.org/drawingml/2006/main" name="Orange Waves">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9074</Words>
  <Application>WPS Presentation</Application>
  <PresentationFormat>On-screen Show (4:3)</PresentationFormat>
  <Paragraphs>224</Paragraphs>
  <Slides>20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Arial</vt:lpstr>
      <vt:lpstr>SimSun</vt:lpstr>
      <vt:lpstr>Wingdings</vt:lpstr>
      <vt:lpstr>Blackadder ITC</vt:lpstr>
      <vt:lpstr>Wingdings 3</vt:lpstr>
      <vt:lpstr>Wingdings</vt:lpstr>
      <vt:lpstr>Microsoft YaHei</vt:lpstr>
      <vt:lpstr>Arial Unicode MS</vt:lpstr>
      <vt:lpstr>Calibri</vt:lpstr>
      <vt:lpstr>Arial</vt:lpstr>
      <vt:lpstr>Orange Waves</vt:lpstr>
      <vt:lpstr>Housing Market Reports</vt:lpstr>
      <vt:lpstr>PowerPoint 演示文稿</vt:lpstr>
      <vt:lpstr>Executive Summary </vt:lpstr>
      <vt:lpstr>Project Background</vt:lpstr>
      <vt:lpstr>PROJECT GOAL</vt:lpstr>
      <vt:lpstr>Objective</vt:lpstr>
      <vt:lpstr>Methodology – Data Preparation</vt:lpstr>
      <vt:lpstr>Key Performance Indicators</vt:lpstr>
      <vt:lpstr>Market Trends</vt:lpstr>
      <vt:lpstr>Market Drivers</vt:lpstr>
      <vt:lpstr>Location Insights</vt:lpstr>
      <vt:lpstr>Inventory &amp; Mix</vt:lpstr>
      <vt:lpstr>Key Findings</vt:lpstr>
      <vt:lpstr>Discussion of Findings</vt:lpstr>
      <vt:lpstr>Discussion of Findings Contd</vt:lpstr>
      <vt:lpstr>Strategic Implications</vt:lpstr>
      <vt:lpstr>Recommendations</vt:lpstr>
      <vt:lpstr>Conclusion</vt:lpstr>
      <vt:lpstr>Future Scope</vt:lpstr>
      <vt:lpstr>Next Steps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hp</cp:lastModifiedBy>
  <cp:revision>32</cp:revision>
  <dcterms:created xsi:type="dcterms:W3CDTF">2013-01-27T09:14:00Z</dcterms:created>
  <dcterms:modified xsi:type="dcterms:W3CDTF">2026-04-15T16:49:52Z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9A0EFEC1A28643B4B65DADF301E9CA89_13</vt:lpwstr>
  </property>
  <property fmtid="{D5CDD505-2E9C-101B-9397-08002B2CF9AE}" pid="3" name="KSOProductBuildVer">
    <vt:lpwstr>1033-12.1.0.25242</vt:lpwstr>
  </property>
</Properties>
</file>